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7" r:id="rId12"/>
    <p:sldId id="266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340"/>
  </p:normalViewPr>
  <p:slideViewPr>
    <p:cSldViewPr snapToGrid="0" snapToObjects="1">
      <p:cViewPr>
        <p:scale>
          <a:sx n="109" d="100"/>
          <a:sy n="109" d="100"/>
        </p:scale>
        <p:origin x="200" y="4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8BDF8"/>
                </a:solidFill>
                <a:latin typeface="Consolas"/>
              </a:defRPr>
            </a:pPr>
            <a:r>
              <a:t>The Physics of the Perfect Curve</a:t>
            </a:r>
          </a:p>
          <a:p>
            <a:pPr>
              <a:spcBef>
                <a:spcPts val="1400"/>
              </a:spcBef>
              <a:defRPr sz="1800">
                <a:solidFill>
                  <a:srgbClr val="F1F5F9"/>
                </a:solidFill>
                <a:latin typeface="Fira Code"/>
              </a:defRPr>
            </a:pPr>
            <a:r>
              <a:t>Modeling Soccer Ball Spin Velocity &amp; Speed from Kicking Force Vectors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37BA7-92E7-5031-5518-D7BA0DB90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7925C6-3217-8E89-4795-D796B626D3BF}"/>
              </a:ext>
            </a:extLst>
          </p:cNvPr>
          <p:cNvSpPr txBox="1"/>
          <p:nvPr/>
        </p:nvSpPr>
        <p:spPr>
          <a:xfrm>
            <a:off x="731520" y="457200"/>
            <a:ext cx="583525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Consolas"/>
              </a:defRPr>
            </a:pPr>
            <a:r>
              <a:rPr dirty="0"/>
              <a:t>0</a:t>
            </a:r>
            <a:r>
              <a:rPr lang="en-US" dirty="0"/>
              <a:t>0</a:t>
            </a:r>
            <a:r>
              <a:rPr dirty="0"/>
              <a:t> // </a:t>
            </a:r>
            <a:r>
              <a:rPr lang="en-US" dirty="0"/>
              <a:t>fundamental physics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62F179-FE29-7AEB-47BE-AB48520A048E}"/>
              </a:ext>
            </a:extLst>
          </p:cNvPr>
          <p:cNvSpPr txBox="1"/>
          <p:nvPr/>
        </p:nvSpPr>
        <p:spPr>
          <a:xfrm>
            <a:off x="731519" y="1645920"/>
            <a:ext cx="6489895" cy="3621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lang="en-US" sz="1600" b="1" dirty="0">
                <a:solidFill>
                  <a:srgbClr val="38BDF8"/>
                </a:solidFill>
                <a:latin typeface="Fira Code"/>
              </a:rPr>
              <a:t>When Kick force vector pass the center of the ball</a:t>
            </a:r>
            <a:r>
              <a:rPr sz="1500" dirty="0">
                <a:solidFill>
                  <a:srgbClr val="F1F5F9"/>
                </a:solidFill>
                <a:latin typeface="Fira Code"/>
              </a:rPr>
              <a:t> </a:t>
            </a:r>
            <a:endParaRPr lang="en-US" sz="1500" dirty="0">
              <a:solidFill>
                <a:srgbClr val="F1F5F9"/>
              </a:solidFill>
              <a:latin typeface="Fira Code"/>
            </a:endParaRPr>
          </a:p>
          <a:p>
            <a:pPr>
              <a:spcAft>
                <a:spcPts val="1400"/>
              </a:spcAft>
            </a:pPr>
            <a:r>
              <a:rPr lang="en-US" sz="1500" b="1" dirty="0">
                <a:solidFill>
                  <a:srgbClr val="F1F5F9"/>
                </a:solidFill>
                <a:latin typeface="Fira Code"/>
              </a:rPr>
              <a:t>F x T = M x V</a:t>
            </a:r>
          </a:p>
          <a:p>
            <a:pPr>
              <a:spcAft>
                <a:spcPts val="1400"/>
              </a:spcAft>
            </a:pPr>
            <a:endParaRPr lang="en-US" sz="1500" b="1" dirty="0">
              <a:solidFill>
                <a:srgbClr val="F1F5F9"/>
              </a:solidFill>
              <a:latin typeface="Fira Code"/>
            </a:endParaRPr>
          </a:p>
          <a:p>
            <a:pPr>
              <a:spcAft>
                <a:spcPts val="1400"/>
              </a:spcAft>
            </a:pPr>
            <a:r>
              <a:rPr lang="en-US" sz="1500" b="1" dirty="0">
                <a:solidFill>
                  <a:srgbClr val="F1F5F9"/>
                </a:solidFill>
                <a:latin typeface="Fira Code"/>
              </a:rPr>
              <a:t>F - the kick force (newton)</a:t>
            </a:r>
          </a:p>
          <a:p>
            <a:pPr>
              <a:spcAft>
                <a:spcPts val="1400"/>
              </a:spcAft>
            </a:pPr>
            <a:r>
              <a:rPr lang="en-US" sz="1500" b="1" dirty="0">
                <a:solidFill>
                  <a:srgbClr val="F1F5F9"/>
                </a:solidFill>
                <a:latin typeface="Fira Code"/>
              </a:rPr>
              <a:t>T – duration of the force exerted on the ball (second)</a:t>
            </a:r>
          </a:p>
          <a:p>
            <a:pPr>
              <a:spcAft>
                <a:spcPts val="1400"/>
              </a:spcAft>
            </a:pPr>
            <a:r>
              <a:rPr lang="en-US" sz="1500" b="1" dirty="0">
                <a:solidFill>
                  <a:srgbClr val="F1F5F9"/>
                </a:solidFill>
                <a:latin typeface="Fira Code"/>
              </a:rPr>
              <a:t>M – ball mass (kg)</a:t>
            </a:r>
          </a:p>
          <a:p>
            <a:pPr>
              <a:spcAft>
                <a:spcPts val="1400"/>
              </a:spcAft>
            </a:pPr>
            <a:r>
              <a:rPr lang="en-US" sz="1500" b="1" dirty="0">
                <a:solidFill>
                  <a:srgbClr val="F1F5F9"/>
                </a:solidFill>
                <a:latin typeface="Fira Code"/>
              </a:rPr>
              <a:t>V – ball launching speed after the kick (meter/second)</a:t>
            </a:r>
          </a:p>
          <a:p>
            <a:pPr>
              <a:spcAft>
                <a:spcPts val="1400"/>
              </a:spcAft>
            </a:pPr>
            <a:r>
              <a:rPr lang="en-US" sz="1400" b="1" dirty="0">
                <a:solidFill>
                  <a:srgbClr val="38BDF8"/>
                </a:solidFill>
                <a:latin typeface="Fira Code"/>
              </a:rPr>
              <a:t>ball travels without spin</a:t>
            </a:r>
            <a:endParaRPr lang="en-US" sz="1400" dirty="0">
              <a:solidFill>
                <a:srgbClr val="F1F5F9"/>
              </a:solidFill>
              <a:latin typeface="Fira Code"/>
            </a:endParaRPr>
          </a:p>
          <a:p>
            <a:pPr>
              <a:spcAft>
                <a:spcPts val="1400"/>
              </a:spcAft>
            </a:pPr>
            <a:endParaRPr lang="en-US" sz="1500" b="1" dirty="0">
              <a:solidFill>
                <a:srgbClr val="F1F5F9"/>
              </a:solidFill>
              <a:latin typeface="Fira Code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B096D27-C59C-9848-48AA-CA0079A76D6D}"/>
              </a:ext>
            </a:extLst>
          </p:cNvPr>
          <p:cNvSpPr/>
          <p:nvPr/>
        </p:nvSpPr>
        <p:spPr>
          <a:xfrm>
            <a:off x="7772400" y="2286000"/>
            <a:ext cx="3200400" cy="320040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Up Arrow 4">
            <a:extLst>
              <a:ext uri="{FF2B5EF4-FFF2-40B4-BE49-F238E27FC236}">
                <a16:creationId xmlns:a16="http://schemas.microsoft.com/office/drawing/2014/main" id="{7D8CEE18-4C0D-71C8-7631-9814F21A67F9}"/>
              </a:ext>
            </a:extLst>
          </p:cNvPr>
          <p:cNvSpPr/>
          <p:nvPr/>
        </p:nvSpPr>
        <p:spPr>
          <a:xfrm rot="1497656">
            <a:off x="8323185" y="5295477"/>
            <a:ext cx="165741" cy="1282262"/>
          </a:xfrm>
          <a:prstGeom prst="upArrow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86EEEF8-F200-88FD-A220-826323669A49}"/>
              </a:ext>
            </a:extLst>
          </p:cNvPr>
          <p:cNvCxnSpPr>
            <a:cxnSpLocks/>
          </p:cNvCxnSpPr>
          <p:nvPr/>
        </p:nvCxnSpPr>
        <p:spPr>
          <a:xfrm flipV="1">
            <a:off x="8692055" y="2501462"/>
            <a:ext cx="1397876" cy="282833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030908AF-ECDE-2394-9684-52FD2CD929FB}"/>
              </a:ext>
            </a:extLst>
          </p:cNvPr>
          <p:cNvSpPr/>
          <p:nvPr/>
        </p:nvSpPr>
        <p:spPr>
          <a:xfrm>
            <a:off x="9372600" y="3886200"/>
            <a:ext cx="45719" cy="457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027E518-90CD-8C74-CBFE-FB9C0429786B}"/>
              </a:ext>
            </a:extLst>
          </p:cNvPr>
          <p:cNvCxnSpPr>
            <a:cxnSpLocks/>
          </p:cNvCxnSpPr>
          <p:nvPr/>
        </p:nvCxnSpPr>
        <p:spPr>
          <a:xfrm flipV="1">
            <a:off x="8691853" y="4306573"/>
            <a:ext cx="510765" cy="1023223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8D9BC92-CAC7-84CA-8D42-C0B3D0433741}"/>
              </a:ext>
            </a:extLst>
          </p:cNvPr>
          <p:cNvSpPr txBox="1"/>
          <p:nvPr/>
        </p:nvSpPr>
        <p:spPr>
          <a:xfrm>
            <a:off x="8503774" y="4638005"/>
            <a:ext cx="868826" cy="276999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kick force</a:t>
            </a:r>
          </a:p>
        </p:txBody>
      </p:sp>
    </p:spTree>
    <p:extLst>
      <p:ext uri="{BB962C8B-B14F-4D97-AF65-F5344CB8AC3E}">
        <p14:creationId xmlns:p14="http://schemas.microsoft.com/office/powerpoint/2010/main" val="802147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Consolas"/>
              </a:defRPr>
            </a:pPr>
            <a:r>
              <a:t>01 // Core Kinematics &amp;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38BDF8"/>
                </a:solidFill>
                <a:latin typeface="Fira Code"/>
              </a:rPr>
              <a:t>Off-Center Contact Point:</a:t>
            </a:r>
            <a:r>
              <a:rPr sz="1500">
                <a:solidFill>
                  <a:srgbClr val="F1F5F9"/>
                </a:solidFill>
                <a:latin typeface="Fira Code"/>
              </a:rPr>
              <a:t> Striking converts translation force into angular momentum.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38BDF8"/>
                </a:solidFill>
                <a:latin typeface="Fira Code"/>
              </a:rPr>
              <a:t>Vector Splitting:</a:t>
            </a:r>
            <a:r>
              <a:rPr sz="1500">
                <a:solidFill>
                  <a:srgbClr val="F1F5F9"/>
                </a:solidFill>
                <a:latin typeface="Fira Code"/>
              </a:rPr>
              <a:t> Impact splits into orthogonal pairs: Normal and Tangential.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38BDF8"/>
                </a:solidFill>
                <a:latin typeface="Fira Code"/>
              </a:rPr>
              <a:t>Frictional Coefficient:</a:t>
            </a:r>
            <a:r>
              <a:rPr sz="1500">
                <a:solidFill>
                  <a:srgbClr val="F1F5F9"/>
                </a:solidFill>
                <a:latin typeface="Fira Code"/>
              </a:rPr>
              <a:t> Bound interfaces dictate energy transfer efficiency.</a:t>
            </a:r>
          </a:p>
        </p:txBody>
      </p:sp>
      <p:sp>
        <p:nvSpPr>
          <p:cNvPr id="4" name="Oval 3"/>
          <p:cNvSpPr/>
          <p:nvPr/>
        </p:nvSpPr>
        <p:spPr>
          <a:xfrm>
            <a:off x="7772400" y="2286000"/>
            <a:ext cx="3200400" cy="320040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Up Arrow 4"/>
          <p:cNvSpPr/>
          <p:nvPr/>
        </p:nvSpPr>
        <p:spPr>
          <a:xfrm>
            <a:off x="8597462" y="5329796"/>
            <a:ext cx="189187" cy="1381060"/>
          </a:xfrm>
          <a:prstGeom prst="upArrow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ACA15E-E275-6D03-665F-60EF8DBE784A}"/>
              </a:ext>
            </a:extLst>
          </p:cNvPr>
          <p:cNvCxnSpPr>
            <a:cxnSpLocks/>
          </p:cNvCxnSpPr>
          <p:nvPr/>
        </p:nvCxnSpPr>
        <p:spPr>
          <a:xfrm flipV="1">
            <a:off x="8692055" y="2501462"/>
            <a:ext cx="1397876" cy="282833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4E2D18C-D49F-C91E-69CD-8782E4ADB009}"/>
              </a:ext>
            </a:extLst>
          </p:cNvPr>
          <p:cNvCxnSpPr>
            <a:cxnSpLocks/>
          </p:cNvCxnSpPr>
          <p:nvPr/>
        </p:nvCxnSpPr>
        <p:spPr>
          <a:xfrm flipH="1" flipV="1">
            <a:off x="8111157" y="5052646"/>
            <a:ext cx="557452" cy="3005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A8D31BF9-9B64-0D57-994C-3683A69E82B2}"/>
              </a:ext>
            </a:extLst>
          </p:cNvPr>
          <p:cNvSpPr/>
          <p:nvPr/>
        </p:nvSpPr>
        <p:spPr>
          <a:xfrm>
            <a:off x="9372600" y="3886200"/>
            <a:ext cx="45719" cy="457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3ECBBF6-5C20-1BD4-73AE-FFE5B6D97855}"/>
              </a:ext>
            </a:extLst>
          </p:cNvPr>
          <p:cNvCxnSpPr>
            <a:cxnSpLocks/>
          </p:cNvCxnSpPr>
          <p:nvPr/>
        </p:nvCxnSpPr>
        <p:spPr>
          <a:xfrm flipV="1">
            <a:off x="8691853" y="4306573"/>
            <a:ext cx="510765" cy="1023223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6064528-9F19-B200-E047-A0C9BAB33E5A}"/>
              </a:ext>
            </a:extLst>
          </p:cNvPr>
          <p:cNvCxnSpPr>
            <a:cxnSpLocks/>
          </p:cNvCxnSpPr>
          <p:nvPr/>
        </p:nvCxnSpPr>
        <p:spPr>
          <a:xfrm flipV="1">
            <a:off x="8668408" y="4035812"/>
            <a:ext cx="0" cy="1282262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40F77D0-FD27-A1D6-2DD8-5069BB41A999}"/>
              </a:ext>
            </a:extLst>
          </p:cNvPr>
          <p:cNvCxnSpPr>
            <a:cxnSpLocks/>
          </p:cNvCxnSpPr>
          <p:nvPr/>
        </p:nvCxnSpPr>
        <p:spPr>
          <a:xfrm flipH="1">
            <a:off x="8134603" y="4035812"/>
            <a:ext cx="486305" cy="1016834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C2C6C50-D882-2670-C724-E26AB1367439}"/>
              </a:ext>
            </a:extLst>
          </p:cNvPr>
          <p:cNvCxnSpPr>
            <a:cxnSpLocks/>
          </p:cNvCxnSpPr>
          <p:nvPr/>
        </p:nvCxnSpPr>
        <p:spPr>
          <a:xfrm flipH="1" flipV="1">
            <a:off x="8652645" y="4006098"/>
            <a:ext cx="549973" cy="300475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1D04CFB-E69B-BC8D-097F-1EF5172E60EA}"/>
              </a:ext>
            </a:extLst>
          </p:cNvPr>
          <p:cNvSpPr txBox="1"/>
          <p:nvPr/>
        </p:nvSpPr>
        <p:spPr>
          <a:xfrm>
            <a:off x="8257440" y="6015539"/>
            <a:ext cx="868826" cy="276999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kick force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236D4C-FBD1-79F1-04E8-3D14C231B3F5}"/>
              </a:ext>
            </a:extLst>
          </p:cNvPr>
          <p:cNvSpPr txBox="1"/>
          <p:nvPr/>
        </p:nvSpPr>
        <p:spPr>
          <a:xfrm>
            <a:off x="8904187" y="4738058"/>
            <a:ext cx="764954" cy="276999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Normal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7977BE-9990-CC58-A119-2F53A2DCC557}"/>
              </a:ext>
            </a:extLst>
          </p:cNvPr>
          <p:cNvSpPr txBox="1"/>
          <p:nvPr/>
        </p:nvSpPr>
        <p:spPr>
          <a:xfrm>
            <a:off x="7695188" y="5183686"/>
            <a:ext cx="949470" cy="276999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Tangential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B2090F-3DDC-6D2B-0F90-948E14519F96}"/>
              </a:ext>
            </a:extLst>
          </p:cNvPr>
          <p:cNvSpPr txBox="1"/>
          <p:nvPr/>
        </p:nvSpPr>
        <p:spPr>
          <a:xfrm>
            <a:off x="8292610" y="4456371"/>
            <a:ext cx="868826" cy="276999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kick force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Consolas"/>
              </a:defRPr>
            </a:pPr>
            <a:r>
              <a:t>02 // Governing Mathematical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0168" y="1645920"/>
            <a:ext cx="7864922" cy="242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 dirty="0">
                <a:solidFill>
                  <a:srgbClr val="38BDF8"/>
                </a:solidFill>
                <a:latin typeface="Fira Code"/>
              </a:rPr>
              <a:t>Torque Equation:</a:t>
            </a:r>
            <a:r>
              <a:rPr sz="1500" dirty="0">
                <a:solidFill>
                  <a:srgbClr val="F1F5F9"/>
                </a:solidFill>
                <a:latin typeface="Fira Code"/>
              </a:rPr>
              <a:t> 
 </a:t>
            </a:r>
            <a:r>
              <a:rPr sz="1500" dirty="0" err="1">
                <a:solidFill>
                  <a:srgbClr val="F1F5F9"/>
                </a:solidFill>
                <a:latin typeface="Fira Code"/>
              </a:rPr>
              <a:t>τ</a:t>
            </a:r>
            <a:r>
              <a:rPr sz="1500" dirty="0">
                <a:solidFill>
                  <a:srgbClr val="F1F5F9"/>
                </a:solidFill>
                <a:latin typeface="Fira Code"/>
              </a:rPr>
              <a:t> = </a:t>
            </a:r>
            <a:r>
              <a:rPr sz="1500" dirty="0" err="1">
                <a:solidFill>
                  <a:srgbClr val="F1F5F9"/>
                </a:solidFill>
                <a:latin typeface="Fira Code"/>
              </a:rPr>
              <a:t>F</a:t>
            </a:r>
            <a:r>
              <a:rPr lang="en-US" sz="1500" dirty="0" err="1">
                <a:solidFill>
                  <a:srgbClr val="F1F5F9"/>
                </a:solidFill>
                <a:latin typeface="Fira Code"/>
              </a:rPr>
              <a:t>_</a:t>
            </a:r>
            <a:r>
              <a:rPr sz="1500" dirty="0" err="1">
                <a:solidFill>
                  <a:srgbClr val="F1F5F9"/>
                </a:solidFill>
                <a:latin typeface="Fira Code"/>
              </a:rPr>
              <a:t>tangential</a:t>
            </a:r>
            <a:r>
              <a:rPr sz="1500" dirty="0">
                <a:solidFill>
                  <a:srgbClr val="F1F5F9"/>
                </a:solidFill>
                <a:latin typeface="Fira Code"/>
              </a:rPr>
              <a:t> * r  // Twisting moment at ball radius boundary</a:t>
            </a:r>
          </a:p>
          <a:p>
            <a:pPr>
              <a:spcAft>
                <a:spcPts val="1400"/>
              </a:spcAft>
            </a:pPr>
            <a:r>
              <a:rPr sz="1600" b="1" dirty="0">
                <a:solidFill>
                  <a:srgbClr val="38BDF8"/>
                </a:solidFill>
                <a:latin typeface="Fira Code"/>
              </a:rPr>
              <a:t>Rotational Inertia (Sphere):</a:t>
            </a:r>
            <a:r>
              <a:rPr sz="1500" dirty="0">
                <a:solidFill>
                  <a:srgbClr val="F1F5F9"/>
                </a:solidFill>
                <a:latin typeface="Fira Code"/>
              </a:rPr>
              <a:t> 
 I = (2/3) * m * r^2  // Resistance profile to angular spin</a:t>
            </a:r>
          </a:p>
          <a:p>
            <a:pPr>
              <a:spcAft>
                <a:spcPts val="1400"/>
              </a:spcAft>
            </a:pPr>
            <a:r>
              <a:rPr sz="1600" b="1" dirty="0">
                <a:solidFill>
                  <a:srgbClr val="38BDF8"/>
                </a:solidFill>
                <a:latin typeface="Fira Code"/>
              </a:rPr>
              <a:t>Angular Velocity Matrix:</a:t>
            </a:r>
            <a:r>
              <a:rPr sz="1500" dirty="0">
                <a:solidFill>
                  <a:srgbClr val="F1F5F9"/>
                </a:solidFill>
                <a:latin typeface="Fira Code"/>
              </a:rPr>
              <a:t> 
 </a:t>
            </a:r>
            <a:r>
              <a:rPr sz="1500" dirty="0" err="1">
                <a:solidFill>
                  <a:srgbClr val="F1F5F9"/>
                </a:solidFill>
                <a:latin typeface="Fira Code"/>
              </a:rPr>
              <a:t>ω</a:t>
            </a:r>
            <a:r>
              <a:rPr sz="1500" dirty="0">
                <a:solidFill>
                  <a:srgbClr val="F1F5F9"/>
                </a:solidFill>
                <a:latin typeface="Fira Code"/>
              </a:rPr>
              <a:t> = (</a:t>
            </a:r>
            <a:r>
              <a:rPr sz="1500" dirty="0" err="1">
                <a:solidFill>
                  <a:srgbClr val="F1F5F9"/>
                </a:solidFill>
                <a:latin typeface="Fira Code"/>
              </a:rPr>
              <a:t>τ</a:t>
            </a:r>
            <a:r>
              <a:rPr sz="1500" dirty="0">
                <a:solidFill>
                  <a:srgbClr val="F1F5F9"/>
                </a:solidFill>
                <a:latin typeface="Fira Code"/>
              </a:rPr>
              <a:t> * </a:t>
            </a:r>
            <a:r>
              <a:rPr sz="1500" dirty="0" err="1">
                <a:solidFill>
                  <a:srgbClr val="F1F5F9"/>
                </a:solidFill>
                <a:latin typeface="Fira Code"/>
              </a:rPr>
              <a:t>Δt</a:t>
            </a:r>
            <a:r>
              <a:rPr sz="1500" dirty="0">
                <a:solidFill>
                  <a:srgbClr val="F1F5F9"/>
                </a:solidFill>
                <a:latin typeface="Fira Code"/>
              </a:rPr>
              <a:t>) / I  // Final systemic rotational velocity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32D3443-8ED8-6AE4-A9D6-726FFE13376B}"/>
              </a:ext>
            </a:extLst>
          </p:cNvPr>
          <p:cNvSpPr/>
          <p:nvPr/>
        </p:nvSpPr>
        <p:spPr>
          <a:xfrm>
            <a:off x="8628179" y="2086709"/>
            <a:ext cx="3200400" cy="320040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Up Arrow 4">
            <a:extLst>
              <a:ext uri="{FF2B5EF4-FFF2-40B4-BE49-F238E27FC236}">
                <a16:creationId xmlns:a16="http://schemas.microsoft.com/office/drawing/2014/main" id="{7E42322A-92ED-5514-24CA-3A43C6D83012}"/>
              </a:ext>
            </a:extLst>
          </p:cNvPr>
          <p:cNvSpPr/>
          <p:nvPr/>
        </p:nvSpPr>
        <p:spPr>
          <a:xfrm>
            <a:off x="9453241" y="5130505"/>
            <a:ext cx="189187" cy="1381060"/>
          </a:xfrm>
          <a:prstGeom prst="upArrow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47DC63A-5157-1B5F-BE40-042D490664DD}"/>
              </a:ext>
            </a:extLst>
          </p:cNvPr>
          <p:cNvCxnSpPr>
            <a:cxnSpLocks/>
          </p:cNvCxnSpPr>
          <p:nvPr/>
        </p:nvCxnSpPr>
        <p:spPr>
          <a:xfrm flipV="1">
            <a:off x="9547834" y="2302171"/>
            <a:ext cx="1397876" cy="282833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2EDF8A7-03EC-F84C-E193-AA5474A6E659}"/>
              </a:ext>
            </a:extLst>
          </p:cNvPr>
          <p:cNvCxnSpPr>
            <a:cxnSpLocks/>
          </p:cNvCxnSpPr>
          <p:nvPr/>
        </p:nvCxnSpPr>
        <p:spPr>
          <a:xfrm flipH="1" flipV="1">
            <a:off x="8966936" y="4853355"/>
            <a:ext cx="557452" cy="3005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2458E6D0-F69F-0073-A564-58B8EB0710A1}"/>
              </a:ext>
            </a:extLst>
          </p:cNvPr>
          <p:cNvSpPr/>
          <p:nvPr/>
        </p:nvSpPr>
        <p:spPr>
          <a:xfrm>
            <a:off x="10228379" y="3686909"/>
            <a:ext cx="45719" cy="457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053B1C4-5981-83DB-9F54-E6C009A3381B}"/>
              </a:ext>
            </a:extLst>
          </p:cNvPr>
          <p:cNvCxnSpPr>
            <a:cxnSpLocks/>
          </p:cNvCxnSpPr>
          <p:nvPr/>
        </p:nvCxnSpPr>
        <p:spPr>
          <a:xfrm flipV="1">
            <a:off x="9547632" y="4107282"/>
            <a:ext cx="510765" cy="1023223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89E856F-9399-2414-C4E7-F2004FBA4172}"/>
              </a:ext>
            </a:extLst>
          </p:cNvPr>
          <p:cNvCxnSpPr>
            <a:cxnSpLocks/>
          </p:cNvCxnSpPr>
          <p:nvPr/>
        </p:nvCxnSpPr>
        <p:spPr>
          <a:xfrm flipV="1">
            <a:off x="9524187" y="3836521"/>
            <a:ext cx="0" cy="1282262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A59509-74A8-36C9-8042-9DACD5150AB6}"/>
              </a:ext>
            </a:extLst>
          </p:cNvPr>
          <p:cNvCxnSpPr>
            <a:cxnSpLocks/>
          </p:cNvCxnSpPr>
          <p:nvPr/>
        </p:nvCxnSpPr>
        <p:spPr>
          <a:xfrm flipH="1">
            <a:off x="8990382" y="3836521"/>
            <a:ext cx="486305" cy="1016834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9ECBD57-D0A3-7653-C6D6-06D601765E6F}"/>
              </a:ext>
            </a:extLst>
          </p:cNvPr>
          <p:cNvCxnSpPr>
            <a:cxnSpLocks/>
          </p:cNvCxnSpPr>
          <p:nvPr/>
        </p:nvCxnSpPr>
        <p:spPr>
          <a:xfrm flipH="1" flipV="1">
            <a:off x="9508424" y="3806807"/>
            <a:ext cx="549973" cy="300475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F153880-6D62-84A8-4F33-3BBE08CD99BE}"/>
              </a:ext>
            </a:extLst>
          </p:cNvPr>
          <p:cNvSpPr txBox="1"/>
          <p:nvPr/>
        </p:nvSpPr>
        <p:spPr>
          <a:xfrm>
            <a:off x="9113219" y="5816248"/>
            <a:ext cx="868826" cy="276999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kick force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44C531-E9CA-0EC0-3412-FCEACB0884A4}"/>
              </a:ext>
            </a:extLst>
          </p:cNvPr>
          <p:cNvSpPr txBox="1"/>
          <p:nvPr/>
        </p:nvSpPr>
        <p:spPr>
          <a:xfrm>
            <a:off x="10563233" y="2900998"/>
            <a:ext cx="764954" cy="338554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 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272228-0028-C7B9-D366-D8DD50B7E7A4}"/>
              </a:ext>
            </a:extLst>
          </p:cNvPr>
          <p:cNvSpPr txBox="1"/>
          <p:nvPr/>
        </p:nvSpPr>
        <p:spPr>
          <a:xfrm>
            <a:off x="8448039" y="4912443"/>
            <a:ext cx="1279532" cy="276999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</a:rPr>
              <a:t>F_Tangential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7C6F9F-339B-7028-C7E6-6A8F4D7C1075}"/>
              </a:ext>
            </a:extLst>
          </p:cNvPr>
          <p:cNvSpPr txBox="1"/>
          <p:nvPr/>
        </p:nvSpPr>
        <p:spPr>
          <a:xfrm>
            <a:off x="9148389" y="4257080"/>
            <a:ext cx="868826" cy="276999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     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392CDC-2DD9-B3DF-8F45-CE2FED4497D2}"/>
              </a:ext>
            </a:extLst>
          </p:cNvPr>
          <p:cNvSpPr txBox="1"/>
          <p:nvPr/>
        </p:nvSpPr>
        <p:spPr>
          <a:xfrm>
            <a:off x="9547632" y="4422506"/>
            <a:ext cx="1279532" cy="276999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</a:rPr>
              <a:t>F_Normal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8" name="Up Arrow 17">
            <a:extLst>
              <a:ext uri="{FF2B5EF4-FFF2-40B4-BE49-F238E27FC236}">
                <a16:creationId xmlns:a16="http://schemas.microsoft.com/office/drawing/2014/main" id="{08599D16-0407-C1AA-DA0C-6D4455C162E4}"/>
              </a:ext>
            </a:extLst>
          </p:cNvPr>
          <p:cNvSpPr/>
          <p:nvPr/>
        </p:nvSpPr>
        <p:spPr>
          <a:xfrm rot="17826519">
            <a:off x="8090818" y="3731977"/>
            <a:ext cx="189187" cy="1381060"/>
          </a:xfrm>
          <a:prstGeom prst="up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9F6A36-B42F-E80B-2062-8C70A6933516}"/>
              </a:ext>
            </a:extLst>
          </p:cNvPr>
          <p:cNvSpPr txBox="1"/>
          <p:nvPr/>
        </p:nvSpPr>
        <p:spPr>
          <a:xfrm>
            <a:off x="7628233" y="4363892"/>
            <a:ext cx="1279532" cy="276999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Torgue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Consolas"/>
              </a:defRPr>
            </a:pPr>
            <a:r>
              <a:t>03 // Test Environment Constants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Consolas"/>
              </a:defRPr>
            </a:pPr>
            <a:r>
              <a:rPr dirty="0"/>
              <a:t>- m (Ball Mass)     = 0.43 kg       # Official Size 5</a:t>
            </a:r>
          </a:p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Consolas"/>
              </a:defRPr>
            </a:pPr>
            <a:r>
              <a:rPr dirty="0"/>
              <a:t>- r (Ball Radius)   = 0.11 m        # 11 cm exact radius</a:t>
            </a:r>
          </a:p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Consolas"/>
              </a:defRPr>
            </a:pPr>
            <a:r>
              <a:rPr dirty="0"/>
              <a:t>- F (Impact Force)  = 1000.0 N      # Raw force vector</a:t>
            </a:r>
          </a:p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Consolas"/>
              </a:defRPr>
            </a:pPr>
            <a:r>
              <a:rPr dirty="0"/>
              <a:t>- </a:t>
            </a:r>
            <a:r>
              <a:rPr dirty="0" err="1"/>
              <a:t>θ</a:t>
            </a:r>
            <a:r>
              <a:rPr dirty="0"/>
              <a:t> (Off-Axis Angle)= 15.0 deg      # Offset delta</a:t>
            </a:r>
          </a:p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Consolas"/>
              </a:defRPr>
            </a:pPr>
            <a:r>
              <a:rPr dirty="0"/>
              <a:t>- </a:t>
            </a:r>
            <a:r>
              <a:rPr dirty="0" err="1"/>
              <a:t>Δt</a:t>
            </a:r>
            <a:r>
              <a:rPr dirty="0"/>
              <a:t> (Dwell Time)   = 0.01 s        # 10ms contact window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2011680"/>
            <a:ext cx="365760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5279" y="219456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8BDF8"/>
                </a:solidFill>
                <a:latin typeface="Consolas"/>
              </a:defRPr>
            </a:pPr>
            <a:r>
              <a:t>[CONSOLE_LOG]</a:t>
            </a:r>
            <a:br/>
            <a:r>
              <a:t>&gt; INITIALIZING ENVIRONMENT...</a:t>
            </a:r>
            <a:br/>
            <a:r>
              <a:t>&gt; MASS BALANCED</a:t>
            </a:r>
            <a:br/>
            <a:r>
              <a:t>&gt; CODES ACTIVE</a:t>
            </a:r>
            <a:br/>
            <a:r>
              <a:t>&gt; SYSTEM STATUS: STABLE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Consolas"/>
              </a:defRPr>
            </a:pPr>
            <a:r>
              <a:t>04 // Execution Blueprint: Translation Vector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1F5F9"/>
                </a:solidFill>
                <a:latin typeface="Consolas"/>
              </a:defRPr>
            </a:pPr>
            <a:r>
              <a:t>[Step 1] Project directional force vectors:</a:t>
            </a:r>
          </a:p>
          <a:p>
            <a:pPr>
              <a:spcAft>
                <a:spcPts val="400"/>
              </a:spcAft>
              <a:defRPr sz="1500">
                <a:solidFill>
                  <a:srgbClr val="F1F5F9"/>
                </a:solidFill>
                <a:latin typeface="Consolas"/>
              </a:defRPr>
            </a:pPr>
            <a:r>
              <a:t>  F_normal     = 1000 * cos(15°) = 965.93 N</a:t>
            </a:r>
          </a:p>
          <a:p>
            <a:pPr>
              <a:spcAft>
                <a:spcPts val="400"/>
              </a:spcAft>
              <a:defRPr sz="1500">
                <a:solidFill>
                  <a:srgbClr val="F1F5F9"/>
                </a:solidFill>
                <a:latin typeface="Consolas"/>
              </a:defRPr>
            </a:pPr>
            <a:r>
              <a:t>  F_tangential = 1000 * sin(15°) = 258.82 N</a:t>
            </a:r>
          </a:p>
          <a:p>
            <a:pPr>
              <a:spcAft>
                <a:spcPts val="400"/>
              </a:spcAft>
              <a:defRPr sz="1500">
                <a:solidFill>
                  <a:srgbClr val="F1F5F9"/>
                </a:solidFill>
                <a:latin typeface="Consolas"/>
              </a:defRPr>
            </a:pPr>
            <a:endParaRPr/>
          </a:p>
          <a:p>
            <a:pPr>
              <a:spcAft>
                <a:spcPts val="400"/>
              </a:spcAft>
              <a:defRPr sz="1500">
                <a:solidFill>
                  <a:srgbClr val="F1F5F9"/>
                </a:solidFill>
                <a:latin typeface="Consolas"/>
              </a:defRPr>
            </a:pPr>
            <a:r>
              <a:t>[Step 2] Solve for linear velocity (v):</a:t>
            </a:r>
          </a:p>
          <a:p>
            <a:pPr>
              <a:spcAft>
                <a:spcPts val="400"/>
              </a:spcAft>
              <a:defRPr sz="1500">
                <a:solidFill>
                  <a:srgbClr val="F1F5F9"/>
                </a:solidFill>
                <a:latin typeface="Consolas"/>
              </a:defRPr>
            </a:pPr>
            <a:r>
              <a:t>  v = (F_normal * Δt) / m = (965.93 * 0.01) / 0.43</a:t>
            </a:r>
          </a:p>
          <a:p>
            <a:pPr>
              <a:spcAft>
                <a:spcPts val="400"/>
              </a:spcAft>
              <a:defRPr sz="1500" b="1">
                <a:solidFill>
                  <a:srgbClr val="38BDF8"/>
                </a:solidFill>
                <a:latin typeface="Consolas"/>
              </a:defRPr>
            </a:pPr>
            <a:r>
              <a:t>  --&gt; [Result Speed: 22.46 m/s (80.85 km/h)]</a:t>
            </a:r>
          </a:p>
        </p:txBody>
      </p:sp>
      <p:sp>
        <p:nvSpPr>
          <p:cNvPr id="4" name="Right Triangle 3"/>
          <p:cNvSpPr/>
          <p:nvPr/>
        </p:nvSpPr>
        <p:spPr>
          <a:xfrm>
            <a:off x="7772400" y="2286000"/>
            <a:ext cx="3200400" cy="3200400"/>
          </a:xfrm>
          <a:prstGeom prst="rtTriangle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Consolas"/>
              </a:defRPr>
            </a:pPr>
            <a:r>
              <a:t>05 // Execution Blueprint: Rotation Vector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1F5F9"/>
                </a:solidFill>
                <a:latin typeface="Consolas"/>
              </a:defRPr>
            </a:pPr>
            <a:r>
              <a:t>[Step 3] Compute rotational inertia (I):</a:t>
            </a:r>
          </a:p>
          <a:p>
            <a:pPr>
              <a:spcAft>
                <a:spcPts val="400"/>
              </a:spcAft>
              <a:defRPr sz="1500">
                <a:solidFill>
                  <a:srgbClr val="F1F5F9"/>
                </a:solidFill>
                <a:latin typeface="Consolas"/>
              </a:defRPr>
            </a:pPr>
            <a:r>
              <a:t>  I = (2/3) * m * r^2 = 0.00347 kg·m²</a:t>
            </a:r>
          </a:p>
          <a:p>
            <a:pPr>
              <a:spcAft>
                <a:spcPts val="400"/>
              </a:spcAft>
              <a:defRPr sz="1500">
                <a:solidFill>
                  <a:srgbClr val="F1F5F9"/>
                </a:solidFill>
                <a:latin typeface="Consolas"/>
              </a:defRPr>
            </a:pPr>
            <a:endParaRPr/>
          </a:p>
          <a:p>
            <a:pPr>
              <a:spcAft>
                <a:spcPts val="400"/>
              </a:spcAft>
              <a:defRPr sz="1500">
                <a:solidFill>
                  <a:srgbClr val="F1F5F9"/>
                </a:solidFill>
                <a:latin typeface="Consolas"/>
              </a:defRPr>
            </a:pPr>
            <a:r>
              <a:t>[Step 4] Extract Torque output (τ):</a:t>
            </a:r>
          </a:p>
          <a:p>
            <a:pPr>
              <a:spcAft>
                <a:spcPts val="400"/>
              </a:spcAft>
              <a:defRPr sz="1500">
                <a:solidFill>
                  <a:srgbClr val="F1F5F9"/>
                </a:solidFill>
                <a:latin typeface="Consolas"/>
              </a:defRPr>
            </a:pPr>
            <a:r>
              <a:t>  τ = F_tangential * r = 28.47 N·m</a:t>
            </a:r>
          </a:p>
          <a:p>
            <a:pPr>
              <a:spcAft>
                <a:spcPts val="400"/>
              </a:spcAft>
              <a:defRPr sz="1500">
                <a:solidFill>
                  <a:srgbClr val="F1F5F9"/>
                </a:solidFill>
                <a:latin typeface="Consolas"/>
              </a:defRPr>
            </a:pPr>
            <a:endParaRPr/>
          </a:p>
          <a:p>
            <a:pPr>
              <a:spcAft>
                <a:spcPts val="400"/>
              </a:spcAft>
              <a:defRPr sz="1500">
                <a:solidFill>
                  <a:srgbClr val="F1F5F9"/>
                </a:solidFill>
                <a:latin typeface="Consolas"/>
              </a:defRPr>
            </a:pPr>
            <a:r>
              <a:t>[Step 5] Compute terminal spin output (ω):</a:t>
            </a:r>
          </a:p>
          <a:p>
            <a:pPr>
              <a:spcAft>
                <a:spcPts val="400"/>
              </a:spcAft>
              <a:defRPr sz="1500">
                <a:solidFill>
                  <a:srgbClr val="F1F5F9"/>
                </a:solidFill>
                <a:latin typeface="Consolas"/>
              </a:defRPr>
            </a:pPr>
            <a:r>
              <a:t>  ω = (τ * Δt) / I = 82.08 rad/s</a:t>
            </a:r>
          </a:p>
          <a:p>
            <a:pPr>
              <a:spcAft>
                <a:spcPts val="400"/>
              </a:spcAft>
              <a:defRPr sz="1500" b="1">
                <a:solidFill>
                  <a:srgbClr val="38BDF8"/>
                </a:solidFill>
                <a:latin typeface="Consolas"/>
              </a:defRPr>
            </a:pPr>
            <a:r>
              <a:t>  --&gt; [Result Spin Velocity: ~783.79 RPM]</a:t>
            </a:r>
          </a:p>
        </p:txBody>
      </p:sp>
      <p:sp>
        <p:nvSpPr>
          <p:cNvPr id="4" name="Oval 3"/>
          <p:cNvSpPr/>
          <p:nvPr/>
        </p:nvSpPr>
        <p:spPr>
          <a:xfrm>
            <a:off x="7772400" y="2286000"/>
            <a:ext cx="3200400" cy="320040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8138160" y="2651760"/>
            <a:ext cx="2468880" cy="2468880"/>
          </a:xfrm>
          <a:prstGeom prst="arc">
            <a:avLst/>
          </a:prstGeom>
          <a:ln w="635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Consolas"/>
              </a:defRPr>
            </a:pPr>
            <a:r>
              <a:t>06 // Runtime Mechanics: The Magnus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38BDF8"/>
                </a:solidFill>
                <a:latin typeface="Fira Code"/>
              </a:rPr>
              <a:t>Boundary Layer Friction:</a:t>
            </a:r>
            <a:r>
              <a:rPr sz="1500">
                <a:solidFill>
                  <a:srgbClr val="F1F5F9"/>
                </a:solidFill>
                <a:latin typeface="Fira Code"/>
              </a:rPr>
              <a:t> Spinning hulls drag fluid layers, creating asymmetry.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38BDF8"/>
                </a:solidFill>
                <a:latin typeface="Fira Code"/>
              </a:rPr>
              <a:t>Pressure Field Instability:</a:t>
            </a:r>
            <a:r>
              <a:rPr sz="1500">
                <a:solidFill>
                  <a:srgbClr val="F1F5F9"/>
                </a:solidFill>
                <a:latin typeface="Fira Code"/>
              </a:rPr>
              <a:t> High local speed generates low static pressure drop (Bernoulli).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38BDF8"/>
                </a:solidFill>
                <a:latin typeface="Fira Code"/>
              </a:rPr>
              <a:t>Deflection Force Matrix:</a:t>
            </a:r>
            <a:r>
              <a:rPr sz="1500">
                <a:solidFill>
                  <a:srgbClr val="F1F5F9"/>
                </a:solidFill>
                <a:latin typeface="Fira Code"/>
              </a:rPr>
              <a:t> Net structural delta forces vector push toward low-pressure.</a:t>
            </a:r>
          </a:p>
        </p:txBody>
      </p:sp>
      <p:sp>
        <p:nvSpPr>
          <p:cNvPr id="4" name="Oval 3"/>
          <p:cNvSpPr/>
          <p:nvPr/>
        </p:nvSpPr>
        <p:spPr>
          <a:xfrm>
            <a:off x="7772400" y="2286000"/>
            <a:ext cx="3200400" cy="320040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urved Left Arrow 4"/>
          <p:cNvSpPr/>
          <p:nvPr/>
        </p:nvSpPr>
        <p:spPr>
          <a:xfrm>
            <a:off x="6858000" y="1645920"/>
            <a:ext cx="4572000" cy="548640"/>
          </a:xfrm>
          <a:prstGeom prst="curvedLef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Consolas"/>
              </a:defRPr>
            </a:pPr>
            <a:r>
              <a:t>07 // System Optimization &amp;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38BDF8"/>
                </a:solidFill>
                <a:latin typeface="Fira Code"/>
              </a:rPr>
              <a:t>Trade-off Matrix:</a:t>
            </a:r>
            <a:r>
              <a:rPr sz="1500">
                <a:solidFill>
                  <a:srgbClr val="F1F5F9"/>
                </a:solidFill>
                <a:latin typeface="Fira Code"/>
              </a:rPr>
              <a:t> Increasing θ yields more spin but drops forward efficiency at 1-cos(θ).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38BDF8"/>
                </a:solidFill>
                <a:latin typeface="Fira Code"/>
              </a:rPr>
              <a:t>Maximize Contact Frame (Δt):</a:t>
            </a:r>
            <a:r>
              <a:rPr sz="1500">
                <a:solidFill>
                  <a:srgbClr val="F1F5F9"/>
                </a:solidFill>
                <a:latin typeface="Fira Code"/>
              </a:rPr>
              <a:t> Dragging or warping contact maximizes physical energy delivery.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38BDF8"/>
                </a:solidFill>
                <a:latin typeface="Fira Code"/>
              </a:rPr>
              <a:t>Surface Roughness Bounds:</a:t>
            </a:r>
            <a:r>
              <a:rPr sz="1500">
                <a:solidFill>
                  <a:srgbClr val="F1F5F9"/>
                </a:solidFill>
                <a:latin typeface="Fira Code"/>
              </a:rPr>
              <a:t> Textures prevent boundary slip, aligning flights directly to code.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2CA37D-1722-8565-DE6C-1903A262D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A3E76A-8581-E219-91A9-79AF98024F27}"/>
              </a:ext>
            </a:extLst>
          </p:cNvPr>
          <p:cNvSpPr txBox="1"/>
          <p:nvPr/>
        </p:nvSpPr>
        <p:spPr>
          <a:xfrm>
            <a:off x="731520" y="457200"/>
            <a:ext cx="105817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Consolas"/>
              </a:defRPr>
            </a:pPr>
            <a:r>
              <a:rPr dirty="0"/>
              <a:t>02 // </a:t>
            </a:r>
            <a:r>
              <a:rPr lang="en-US" dirty="0"/>
              <a:t>using Force sensor peak time difference 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0BB4B83-BFCE-112D-165C-A3BDBF42F72D}"/>
                  </a:ext>
                </a:extLst>
              </p:cNvPr>
              <p:cNvSpPr txBox="1"/>
              <p:nvPr/>
            </p:nvSpPr>
            <p:spPr>
              <a:xfrm>
                <a:off x="62294" y="1016499"/>
                <a:ext cx="4496166" cy="54674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solidFill>
                      <a:srgbClr val="F1F5F9"/>
                    </a:solidFill>
                  </a:rPr>
                  <a:t>IL = </a:t>
                </a:r>
                <a:r>
                  <a:rPr lang="en-US" sz="1600" dirty="0" err="1">
                    <a:solidFill>
                      <a:srgbClr val="F1F5F9"/>
                    </a:solidFill>
                  </a:rPr>
                  <a:t>Vf</a:t>
                </a:r>
                <a:r>
                  <a:rPr lang="en-US" sz="1600" dirty="0">
                    <a:solidFill>
                      <a:srgbClr val="F1F5F9"/>
                    </a:solidFill>
                  </a:rPr>
                  <a:t> (Foot speed) * </a:t>
                </a:r>
                <a:r>
                  <a:rPr lang="el-GR" sz="1600" dirty="0">
                    <a:solidFill>
                      <a:srgbClr val="F1F5F9"/>
                    </a:solidFill>
                  </a:rPr>
                  <a:t>Δ</a:t>
                </a:r>
                <a:r>
                  <a:rPr lang="en-US" sz="1600" dirty="0">
                    <a:solidFill>
                      <a:srgbClr val="F1F5F9"/>
                    </a:solidFill>
                  </a:rPr>
                  <a:t>t (sensor peak time difference)</a:t>
                </a:r>
              </a:p>
              <a:p>
                <a:pPr>
                  <a:spcAft>
                    <a:spcPts val="1400"/>
                  </a:spcAft>
                </a:pPr>
                <a:r>
                  <a:rPr lang="en-US" sz="1500" dirty="0">
                    <a:solidFill>
                      <a:srgbClr val="F1F5F9"/>
                    </a:solidFill>
                    <a:latin typeface="Fira Code"/>
                  </a:rPr>
                  <a:t>LR  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500" i="1" smtClean="0">
                            <a:solidFill>
                              <a:srgbClr val="F1F5F9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500" i="1" smtClean="0">
                                <a:solidFill>
                                  <a:srgbClr val="F1F5F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500" b="0" i="1" smtClean="0">
                                <a:solidFill>
                                  <a:srgbClr val="F1F5F9"/>
                                </a:solidFill>
                                <a:latin typeface="Cambria Math" panose="02040503050406030204" pitchFamily="18" charset="0"/>
                              </a:rPr>
                              <m:t>𝐼𝐿</m:t>
                            </m:r>
                          </m:e>
                          <m:sup>
                            <m:r>
                              <a:rPr lang="en-US" sz="1500" i="1" smtClean="0">
                                <a:solidFill>
                                  <a:srgbClr val="F1F5F9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500" i="1" smtClean="0">
                            <a:solidFill>
                              <a:srgbClr val="F1F5F9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500" i="1" smtClean="0">
                                <a:solidFill>
                                  <a:srgbClr val="F1F5F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500" b="0" i="1" smtClean="0">
                                <a:solidFill>
                                  <a:srgbClr val="F1F5F9"/>
                                </a:solidFill>
                                <a:latin typeface="Cambria Math" panose="02040503050406030204" pitchFamily="18" charset="0"/>
                              </a:rPr>
                              <m:t>𝐼𝑅</m:t>
                            </m:r>
                          </m:e>
                          <m:sup>
                            <m:r>
                              <a:rPr lang="en-US" sz="1500" i="1" smtClean="0">
                                <a:solidFill>
                                  <a:srgbClr val="F1F5F9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500" dirty="0">
                    <a:solidFill>
                      <a:srgbClr val="F1F5F9"/>
                    </a:solidFill>
                    <a:latin typeface="Fira Code"/>
                  </a:rPr>
                  <a:t>
</a:t>
                </a:r>
                <a14:m>
                  <m:oMath xmlns:m="http://schemas.openxmlformats.org/officeDocument/2006/math">
                    <m:r>
                      <a:rPr lang="en-US" sz="1400" b="1" i="1">
                        <a:solidFill>
                          <a:schemeClr val="bg1"/>
                        </a:solidFill>
                      </a:rPr>
                      <m:t>∠</m:t>
                    </m:r>
                  </m:oMath>
                </a14:m>
                <a:r>
                  <a:rPr lang="en-US" sz="1400" b="1" dirty="0">
                    <a:solidFill>
                      <a:schemeClr val="bg1"/>
                    </a:solidFill>
                  </a:rPr>
                  <a:t>ORL    =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1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US" sz="1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fName>
                      <m:e>
                        <m:r>
                          <a:rPr lang="en-US" sz="1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1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1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sz="1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𝑳𝑹</m:t>
                        </m:r>
                        <m:r>
                          <a:rPr lang="en-US" sz="1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÷</m:t>
                        </m:r>
                        <m:r>
                          <a:rPr lang="en-US" sz="1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𝑶𝑳</m:t>
                        </m:r>
                        <m:r>
                          <a:rPr lang="en-US" sz="1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1500" dirty="0">
                    <a:solidFill>
                      <a:srgbClr val="F1F5F9"/>
                    </a:solidFill>
                    <a:latin typeface="Fira Code"/>
                  </a:rPr>
                  <a:t> </a:t>
                </a:r>
              </a:p>
              <a:p>
                <a:pPr>
                  <a:spcAft>
                    <a:spcPts val="1400"/>
                  </a:spcAft>
                </a:pPr>
                <a:r>
                  <a:rPr lang="en-US" sz="1400" dirty="0">
                    <a:solidFill>
                      <a:srgbClr val="F1F5F9"/>
                    </a:solidFill>
                  </a:rPr>
                  <a:t>                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b="1" i="1">
                            <a:solidFill>
                              <a:schemeClr val="bg1"/>
                            </a:solidFill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1400" b="1" i="1">
                                <a:solidFill>
                                  <a:schemeClr val="bg1"/>
                                </a:solidFill>
                              </a:rPr>
                            </m:ctrlPr>
                          </m:sSupPr>
                          <m:e>
                            <m:r>
                              <a:rPr lang="en-US" sz="1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m:rPr>
                                <m:sty m:val="p"/>
                              </m:rPr>
                              <a:rPr lang="en-US" sz="1400">
                                <a:solidFill>
                                  <a:schemeClr val="bg1"/>
                                </a:solidFill>
                              </a:rPr>
                              <m:t>cos</m:t>
                            </m:r>
                          </m:e>
                          <m:sup>
                            <m:r>
                              <a:rPr lang="en-US" sz="1400" b="1" i="1">
                                <a:solidFill>
                                  <a:schemeClr val="bg1"/>
                                </a:solidFill>
                              </a:rPr>
                              <m:t>−</m:t>
                            </m:r>
                            <m:r>
                              <a:rPr lang="en-US" sz="1400" b="1" i="1">
                                <a:solidFill>
                                  <a:schemeClr val="bg1"/>
                                </a:solidFill>
                              </a:rPr>
                              <m:t>𝟏</m:t>
                            </m:r>
                          </m:sup>
                        </m:sSup>
                      </m:fName>
                      <m:e>
                        <m:r>
                          <a:rPr lang="en-US" sz="1400" b="1" i="1">
                            <a:solidFill>
                              <a:schemeClr val="bg1"/>
                            </a:solidFill>
                          </a:rPr>
                          <m:t>(</m:t>
                        </m:r>
                        <m:f>
                          <m:fPr>
                            <m:ctrlPr>
                              <a:rPr lang="en-US" sz="1400" b="1" i="1">
                                <a:solidFill>
                                  <a:schemeClr val="bg1"/>
                                </a:solidFill>
                              </a:rPr>
                            </m:ctrlPr>
                          </m:fPr>
                          <m:num>
                            <m:r>
                              <a:rPr lang="en-US" sz="1400" b="1" i="1">
                                <a:solidFill>
                                  <a:schemeClr val="bg1"/>
                                </a:solidFill>
                              </a:rPr>
                              <m:t>𝟏</m:t>
                            </m:r>
                          </m:num>
                          <m:den>
                            <m:r>
                              <a:rPr lang="en-US" sz="1400" b="1" i="1">
                                <a:solidFill>
                                  <a:schemeClr val="bg1"/>
                                </a:solidFill>
                              </a:rPr>
                              <m:t>𝟐</m:t>
                            </m:r>
                          </m:den>
                        </m:f>
                        <m:r>
                          <a:rPr lang="en-US" sz="1400" b="1" i="1">
                            <a:solidFill>
                              <a:schemeClr val="bg1"/>
                            </a:solidFill>
                          </a:rPr>
                          <m:t>𝑳𝑹</m:t>
                        </m:r>
                        <m:r>
                          <a:rPr lang="en-US" sz="1400" b="1" i="1">
                            <a:solidFill>
                              <a:schemeClr val="bg1"/>
                            </a:solidFill>
                            <a:ea typeface="Cambria Math" panose="02040503050406030204" pitchFamily="18" charset="0"/>
                          </a:rPr>
                          <m:t>÷</m:t>
                        </m:r>
                        <m:r>
                          <a:rPr lang="en-US" sz="1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  <m:r>
                          <a:rPr lang="en-US" sz="1400" b="1" i="1">
                            <a:solidFill>
                              <a:schemeClr val="bg1"/>
                            </a:solidFill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1500" dirty="0">
                    <a:solidFill>
                      <a:srgbClr val="F1F5F9"/>
                    </a:solidFill>
                    <a:latin typeface="Fira Code"/>
                  </a:rPr>
                  <a:t>
</a:t>
                </a:r>
                <a14:m>
                  <m:oMath xmlns:m="http://schemas.openxmlformats.org/officeDocument/2006/math">
                    <m:r>
                      <a:rPr lang="en-US" sz="1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14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𝐈𝐑𝐋</m:t>
                    </m:r>
                  </m:oMath>
                </a14:m>
                <a:r>
                  <a:rPr lang="en-US" sz="1400" b="1" dirty="0">
                    <a:solidFill>
                      <a:schemeClr val="bg1"/>
                    </a:solidFill>
                  </a:rPr>
                  <a:t>    =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1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US" sz="1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fName>
                      <m:e>
                        <m:r>
                          <a:rPr lang="en-US" sz="1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sz="1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sz="1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÷</m:t>
                        </m:r>
                        <m:r>
                          <a:rPr lang="en-US" sz="1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𝑳𝑹</m:t>
                        </m:r>
                        <m:r>
                          <a:rPr lang="en-US" sz="1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1500" dirty="0">
                    <a:solidFill>
                      <a:srgbClr val="F1F5F9"/>
                    </a:solidFill>
                    <a:latin typeface="Fira Code"/>
                  </a:rPr>
                  <a:t> </a:t>
                </a:r>
              </a:p>
              <a:p>
                <a:pPr>
                  <a:spcAft>
                    <a:spcPts val="1400"/>
                  </a:spcAft>
                </a:pPr>
                <a:r>
                  <a:rPr lang="en-US" sz="1400" dirty="0">
                    <a:solidFill>
                      <a:srgbClr val="F1F5F9"/>
                    </a:solidFill>
                  </a:rPr>
                  <a:t>              =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1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US" sz="1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fName>
                      <m:e>
                        <m:r>
                          <a:rPr lang="en-US" sz="1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1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𝑰𝑹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1400" i="1">
                                    <a:solidFill>
                                      <a:srgbClr val="F1F5F9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𝐼𝐿</m:t>
                                    </m:r>
                                  </m:e>
                                  <m:sup>
                                    <m: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400" i="1">
                                    <a:solidFill>
                                      <a:srgbClr val="F1F5F9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𝐼𝑅</m:t>
                                    </m:r>
                                  </m:e>
                                  <m:sup>
                                    <m: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a:rPr lang="en-US" sz="1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1500" dirty="0">
                    <a:solidFill>
                      <a:srgbClr val="F1F5F9"/>
                    </a:solidFill>
                    <a:latin typeface="Fira Code"/>
                  </a:rPr>
                  <a:t>
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1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sz="1400" b="1" dirty="0">
                    <a:solidFill>
                      <a:schemeClr val="bg1"/>
                    </a:solidFill>
                  </a:rPr>
                  <a:t>        =   </a:t>
                </a:r>
                <a:r>
                  <a:rPr lang="en-US" sz="1600" b="1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600" b="1" dirty="0">
                    <a:solidFill>
                      <a:schemeClr val="bg1"/>
                    </a:solidFill>
                  </a:rPr>
                  <a:t>ORL +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1600" b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𝐈𝐑𝐋</m:t>
                    </m:r>
                  </m:oMath>
                </a14:m>
                <a:r>
                  <a:rPr lang="en-US" sz="1600" b="1" dirty="0">
                    <a:solidFill>
                      <a:schemeClr val="bg1"/>
                    </a:solidFill>
                  </a:rPr>
                  <a:t>  - 90 degree</a:t>
                </a:r>
              </a:p>
              <a:p>
                <a:pPr>
                  <a:spcAft>
                    <a:spcPts val="1400"/>
                  </a:spcAft>
                </a:pPr>
                <a:r>
                  <a:rPr lang="en-US" sz="1400" b="1" dirty="0">
                    <a:solidFill>
                      <a:schemeClr val="bg1"/>
                    </a:solidFill>
                  </a:rPr>
                  <a:t>So angle of attack is </a:t>
                </a:r>
              </a:p>
              <a:p>
                <a:pPr>
                  <a:spcAft>
                    <a:spcPts val="1400"/>
                  </a:spcAft>
                </a:pPr>
                <a14:m>
                  <m:oMath xmlns:m="http://schemas.openxmlformats.org/officeDocument/2006/math">
                    <m:r>
                      <a:rPr lang="en-US" sz="12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12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sz="1200" b="1" dirty="0">
                    <a:solidFill>
                      <a:schemeClr val="bg1"/>
                    </a:solidFill>
                  </a:rPr>
                  <a:t>        =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b="1" i="1">
                            <a:solidFill>
                              <a:schemeClr val="bg1"/>
                            </a:solidFill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1400" b="1" i="1">
                                <a:solidFill>
                                  <a:schemeClr val="bg1"/>
                                </a:solidFill>
                              </a:rPr>
                            </m:ctrlPr>
                          </m:sSupPr>
                          <m:e>
                            <m:r>
                              <a:rPr lang="en-US" sz="1400">
                                <a:solidFill>
                                  <a:schemeClr val="bg1"/>
                                </a:solidFill>
                              </a:rPr>
                              <m:t>   </m:t>
                            </m:r>
                            <m:r>
                              <m:rPr>
                                <m:sty m:val="p"/>
                              </m:rPr>
                              <a:rPr lang="en-US" sz="1400">
                                <a:solidFill>
                                  <a:schemeClr val="bg1"/>
                                </a:solidFill>
                              </a:rPr>
                              <m:t>cos</m:t>
                            </m:r>
                          </m:e>
                          <m:sup>
                            <m:r>
                              <a:rPr lang="en-US" sz="1400" b="1" i="1">
                                <a:solidFill>
                                  <a:schemeClr val="bg1"/>
                                </a:solidFill>
                              </a:rPr>
                              <m:t>−</m:t>
                            </m:r>
                            <m:r>
                              <a:rPr lang="en-US" sz="1400" b="1" i="1">
                                <a:solidFill>
                                  <a:schemeClr val="bg1"/>
                                </a:solidFill>
                              </a:rPr>
                              <m:t>𝟏</m:t>
                            </m:r>
                          </m:sup>
                        </m:sSup>
                      </m:fName>
                      <m:e>
                        <m:r>
                          <a:rPr lang="en-US" sz="1400" b="1" i="1">
                            <a:solidFill>
                              <a:schemeClr val="bg1"/>
                            </a:solidFill>
                          </a:rPr>
                          <m:t>(</m:t>
                        </m:r>
                        <m:f>
                          <m:fPr>
                            <m:ctrlPr>
                              <a:rPr lang="en-US" sz="1400" b="1" i="1" smtClean="0">
                                <a:solidFill>
                                  <a:schemeClr val="bg1"/>
                                </a:solidFill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sz="1400" i="1">
                                    <a:solidFill>
                                      <a:srgbClr val="F1F5F9"/>
                                    </a:solidFill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</a:rPr>
                                      <m:t>(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rgbClr val="F1F5F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𝑉𝑓</m:t>
                                    </m:r>
                                    <m: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  <a:ea typeface="Cambria Math" panose="02040503050406030204" pitchFamily="18" charset="0"/>
                                      </a:rPr>
                                      <m:t>×∆</m:t>
                                    </m:r>
                                    <m: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400" i="1">
                                    <a:solidFill>
                                      <a:srgbClr val="F1F5F9"/>
                                    </a:solidFill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num>
                          <m:den>
                            <m:r>
                              <a:rPr lang="en-US" sz="1400" b="1" i="1" smtClean="0">
                                <a:solidFill>
                                  <a:schemeClr val="bg1"/>
                                </a:solidFill>
                              </a:rPr>
                              <m:t>𝟐</m:t>
                            </m:r>
                            <m:r>
                              <a:rPr lang="en-US" sz="1400" b="1" i="1" smtClean="0">
                                <a:solidFill>
                                  <a:schemeClr val="bg1"/>
                                </a:solidFill>
                              </a:rPr>
                              <m:t>𝒓</m:t>
                            </m:r>
                          </m:den>
                        </m:f>
                        <m:r>
                          <a:rPr lang="en-US" sz="1400" b="1" i="1">
                            <a:solidFill>
                              <a:schemeClr val="bg1"/>
                            </a:solidFill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1400" b="1" dirty="0">
                    <a:solidFill>
                      <a:schemeClr val="bg1"/>
                    </a:solidFill>
                  </a:rPr>
                  <a:t>  +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b="1" i="1">
                            <a:solidFill>
                              <a:schemeClr val="bg1"/>
                            </a:solidFill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1400" b="1" i="1">
                                <a:solidFill>
                                  <a:schemeClr val="bg1"/>
                                </a:solidFill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400">
                                <a:solidFill>
                                  <a:schemeClr val="bg1"/>
                                </a:solidFill>
                              </a:rPr>
                              <m:t>cos</m:t>
                            </m:r>
                          </m:e>
                          <m:sup>
                            <m:r>
                              <a:rPr lang="en-US" sz="1400" b="1" i="1">
                                <a:solidFill>
                                  <a:schemeClr val="bg1"/>
                                </a:solidFill>
                              </a:rPr>
                              <m:t>−</m:t>
                            </m:r>
                            <m:r>
                              <a:rPr lang="en-US" sz="1400" b="1" i="1">
                                <a:solidFill>
                                  <a:schemeClr val="bg1"/>
                                </a:solidFill>
                              </a:rPr>
                              <m:t>𝟏</m:t>
                            </m:r>
                          </m:sup>
                        </m:sSup>
                      </m:fName>
                      <m:e>
                        <m:r>
                          <a:rPr lang="en-US" sz="1400" b="1" i="1">
                            <a:solidFill>
                              <a:schemeClr val="bg1"/>
                            </a:solidFill>
                          </a:rPr>
                          <m:t>(</m:t>
                        </m:r>
                        <m:f>
                          <m:fPr>
                            <m:ctrlPr>
                              <a:rPr lang="en-US" sz="1400" b="1" i="1">
                                <a:solidFill>
                                  <a:schemeClr val="bg1"/>
                                </a:solidFill>
                              </a:rPr>
                            </m:ctrlPr>
                          </m:fPr>
                          <m:num>
                            <m:r>
                              <a:rPr lang="en-US" sz="1400" b="1" i="1" smtClean="0">
                                <a:solidFill>
                                  <a:schemeClr val="bg1"/>
                                </a:solidFill>
                              </a:rPr>
                              <m:t>𝒅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1400" i="1" smtClean="0">
                                    <a:solidFill>
                                      <a:srgbClr val="F1F5F9"/>
                                    </a:solidFill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</a:rPr>
                                      <m:t>(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rgbClr val="F1F5F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𝑉𝑓</m:t>
                                    </m:r>
                                    <m: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  <a:ea typeface="Cambria Math" panose="02040503050406030204" pitchFamily="18" charset="0"/>
                                      </a:rPr>
                                      <m:t>×∆</m:t>
                                    </m:r>
                                    <m: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400" i="1">
                                    <a:solidFill>
                                      <a:srgbClr val="F1F5F9"/>
                                    </a:solidFill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a:rPr lang="en-US" sz="1400" b="1" i="1">
                            <a:solidFill>
                              <a:schemeClr val="bg1"/>
                            </a:solidFill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1400" b="1" dirty="0">
                    <a:solidFill>
                      <a:schemeClr val="bg1"/>
                    </a:solidFill>
                  </a:rPr>
                  <a:t> -                        </a:t>
                </a:r>
              </a:p>
              <a:p>
                <a:pPr>
                  <a:spcAft>
                    <a:spcPts val="1400"/>
                  </a:spcAft>
                </a:pPr>
                <a:r>
                  <a:rPr lang="en-US" sz="1400" b="1" dirty="0">
                    <a:solidFill>
                      <a:schemeClr val="bg1"/>
                    </a:solidFill>
                  </a:rPr>
                  <a:t>                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b="1" i="1" smtClean="0">
                            <a:solidFill>
                              <a:schemeClr val="bg1"/>
                            </a:solidFill>
                          </a:rPr>
                        </m:ctrlPr>
                      </m:fPr>
                      <m:num>
                        <m:r>
                          <a:rPr lang="en-US" sz="1400" b="1" i="1" smtClean="0">
                            <a:solidFill>
                              <a:schemeClr val="bg1"/>
                            </a:solidFill>
                          </a:rPr>
                          <m:t>𝟏</m:t>
                        </m:r>
                      </m:num>
                      <m:den>
                        <m:r>
                          <a:rPr lang="en-US" sz="1400" b="1" i="1" smtClean="0">
                            <a:solidFill>
                              <a:schemeClr val="bg1"/>
                            </a:solidFill>
                          </a:rPr>
                          <m:t>𝟐</m:t>
                        </m:r>
                      </m:den>
                    </m:f>
                    <m:r>
                      <a:rPr lang="en-US" sz="1400" b="1" i="1" smtClean="0">
                        <a:solidFill>
                          <a:schemeClr val="bg1"/>
                        </a:solidFill>
                        <a:ea typeface="Cambria Math" panose="02040503050406030204" pitchFamily="18" charset="0"/>
                      </a:rPr>
                      <m:t>𝝅</m:t>
                    </m:r>
                  </m:oMath>
                </a14:m>
                <a:endParaRPr lang="en-US" sz="1400" b="1" dirty="0">
                  <a:solidFill>
                    <a:schemeClr val="bg1"/>
                  </a:solidFill>
                </a:endParaRPr>
              </a:p>
              <a:p>
                <a:pPr>
                  <a:spcAft>
                    <a:spcPts val="1400"/>
                  </a:spcAft>
                </a:pPr>
                <a:endParaRPr lang="en-US" sz="1400" dirty="0">
                  <a:solidFill>
                    <a:srgbClr val="F1F5F9"/>
                  </a:solidFill>
                </a:endParaRPr>
              </a:p>
              <a:p>
                <a:pPr>
                  <a:spcAft>
                    <a:spcPts val="1400"/>
                  </a:spcAft>
                </a:pPr>
                <a:r>
                  <a:rPr lang="en-US" sz="1400" dirty="0">
                    <a:solidFill>
                      <a:srgbClr val="F1F5F9"/>
                    </a:solidFill>
                  </a:rPr>
                  <a:t>                 </a:t>
                </a:r>
                <a:endParaRPr sz="1400" dirty="0">
                  <a:solidFill>
                    <a:srgbClr val="F1F5F9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0BB4B83-BFCE-112D-165C-A3BDBF42F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4" y="1016499"/>
                <a:ext cx="4496166" cy="5467459"/>
              </a:xfrm>
              <a:prstGeom prst="rect">
                <a:avLst/>
              </a:prstGeom>
              <a:blipFill>
                <a:blip r:embed="rId2"/>
                <a:stretch>
                  <a:fillRect l="-562" t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07DF7B73-CDF6-2064-0523-428F40D29D50}"/>
              </a:ext>
            </a:extLst>
          </p:cNvPr>
          <p:cNvSpPr/>
          <p:nvPr/>
        </p:nvSpPr>
        <p:spPr>
          <a:xfrm>
            <a:off x="3715286" y="894093"/>
            <a:ext cx="5734167" cy="5421502"/>
          </a:xfrm>
          <a:prstGeom prst="ellipse">
            <a:avLst/>
          </a:prstGeom>
          <a:solidFill>
            <a:srgbClr val="1E293B"/>
          </a:solidFill>
          <a:ln w="254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4864D97-96CA-E47C-6E97-2DE674DE2542}"/>
              </a:ext>
            </a:extLst>
          </p:cNvPr>
          <p:cNvCxnSpPr>
            <a:cxnSpLocks/>
          </p:cNvCxnSpPr>
          <p:nvPr/>
        </p:nvCxnSpPr>
        <p:spPr>
          <a:xfrm flipV="1">
            <a:off x="5350993" y="1148862"/>
            <a:ext cx="2480463" cy="489603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846B5B07-52DC-2349-636D-AE25D25D9E9D}"/>
              </a:ext>
            </a:extLst>
          </p:cNvPr>
          <p:cNvSpPr/>
          <p:nvPr/>
        </p:nvSpPr>
        <p:spPr>
          <a:xfrm>
            <a:off x="6605965" y="3499338"/>
            <a:ext cx="45719" cy="457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73E0976-C9AB-98EA-99F9-2A727E3C46F4}"/>
              </a:ext>
            </a:extLst>
          </p:cNvPr>
          <p:cNvCxnSpPr>
            <a:cxnSpLocks/>
          </p:cNvCxnSpPr>
          <p:nvPr/>
        </p:nvCxnSpPr>
        <p:spPr>
          <a:xfrm flipV="1">
            <a:off x="6269584" y="3239552"/>
            <a:ext cx="0" cy="3084623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0839E84-B833-865D-963D-EEE87C0E4579}"/>
              </a:ext>
            </a:extLst>
          </p:cNvPr>
          <p:cNvSpPr txBox="1"/>
          <p:nvPr/>
        </p:nvSpPr>
        <p:spPr>
          <a:xfrm>
            <a:off x="6003403" y="6577317"/>
            <a:ext cx="1519604" cy="276999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Cleat right sensor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C3CAF6-FD8D-5F3A-C2C7-566EB757D249}"/>
              </a:ext>
            </a:extLst>
          </p:cNvPr>
          <p:cNvSpPr txBox="1"/>
          <p:nvPr/>
        </p:nvSpPr>
        <p:spPr>
          <a:xfrm>
            <a:off x="7086097" y="2467293"/>
            <a:ext cx="764954" cy="338554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 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E73A51-AA8C-1A14-0A42-D0FDA5265DCA}"/>
              </a:ext>
            </a:extLst>
          </p:cNvPr>
          <p:cNvSpPr txBox="1"/>
          <p:nvPr/>
        </p:nvSpPr>
        <p:spPr>
          <a:xfrm>
            <a:off x="3502257" y="5870402"/>
            <a:ext cx="2146261" cy="276159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1F5F9"/>
                </a:solidFill>
                <a:latin typeface="Fira Code"/>
              </a:rPr>
              <a:t>Foot speed * </a:t>
            </a:r>
            <a:r>
              <a:rPr lang="el-GR" sz="1200" dirty="0">
                <a:solidFill>
                  <a:srgbClr val="F1F5F9"/>
                </a:solidFill>
                <a:latin typeface="Fira Code"/>
              </a:rPr>
              <a:t>Δ</a:t>
            </a:r>
            <a:r>
              <a:rPr lang="en-US" sz="1200" dirty="0">
                <a:solidFill>
                  <a:srgbClr val="F1F5F9"/>
                </a:solidFill>
                <a:latin typeface="Fira Code"/>
              </a:rPr>
              <a:t>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5DF0B2-7732-45D1-60EB-8AD7DEB6CBCD}"/>
              </a:ext>
            </a:extLst>
          </p:cNvPr>
          <p:cNvSpPr txBox="1"/>
          <p:nvPr/>
        </p:nvSpPr>
        <p:spPr>
          <a:xfrm>
            <a:off x="6217271" y="5316670"/>
            <a:ext cx="868826" cy="276999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l-GR" sz="1200" dirty="0">
                <a:solidFill>
                  <a:schemeClr val="bg1"/>
                </a:solidFill>
              </a:rPr>
              <a:t>θ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50C5F3-EE8F-2FF2-7AF7-A6E9F6F7DF49}"/>
              </a:ext>
            </a:extLst>
          </p:cNvPr>
          <p:cNvSpPr txBox="1"/>
          <p:nvPr/>
        </p:nvSpPr>
        <p:spPr>
          <a:xfrm>
            <a:off x="3548851" y="5140168"/>
            <a:ext cx="1279532" cy="276999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         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E25B1E-B488-6767-D26B-9B2869F370CD}"/>
              </a:ext>
            </a:extLst>
          </p:cNvPr>
          <p:cNvSpPr txBox="1"/>
          <p:nvPr/>
        </p:nvSpPr>
        <p:spPr>
          <a:xfrm>
            <a:off x="3514070" y="6584685"/>
            <a:ext cx="1349093" cy="276999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Cleat left sensor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AC8460F-9F7B-9768-E058-4D0CA8A3B72D}"/>
              </a:ext>
            </a:extLst>
          </p:cNvPr>
          <p:cNvCxnSpPr>
            <a:cxnSpLocks/>
          </p:cNvCxnSpPr>
          <p:nvPr/>
        </p:nvCxnSpPr>
        <p:spPr>
          <a:xfrm>
            <a:off x="4288504" y="6324175"/>
            <a:ext cx="2006798" cy="0"/>
          </a:xfrm>
          <a:prstGeom prst="line">
            <a:avLst/>
          </a:prstGeom>
          <a:ln>
            <a:headEnd type="oval" w="lg" len="lg"/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AB95B2A-BF5A-A462-DED4-E7C96C9D9915}"/>
              </a:ext>
            </a:extLst>
          </p:cNvPr>
          <p:cNvCxnSpPr>
            <a:cxnSpLocks/>
          </p:cNvCxnSpPr>
          <p:nvPr/>
        </p:nvCxnSpPr>
        <p:spPr>
          <a:xfrm flipH="1">
            <a:off x="4288504" y="5309974"/>
            <a:ext cx="34489" cy="10056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CB41A410-FE11-3CEB-B705-B08588CF49C8}"/>
              </a:ext>
            </a:extLst>
          </p:cNvPr>
          <p:cNvSpPr txBox="1"/>
          <p:nvPr/>
        </p:nvSpPr>
        <p:spPr>
          <a:xfrm>
            <a:off x="4658466" y="6402400"/>
            <a:ext cx="1519604" cy="276999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d (sensor distance)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3F7DB55-FE89-4E88-5339-5B42790406F4}"/>
              </a:ext>
            </a:extLst>
          </p:cNvPr>
          <p:cNvCxnSpPr>
            <a:endCxn id="8" idx="2"/>
          </p:cNvCxnSpPr>
          <p:nvPr/>
        </p:nvCxnSpPr>
        <p:spPr>
          <a:xfrm flipV="1">
            <a:off x="4322993" y="3522198"/>
            <a:ext cx="2282972" cy="17877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EB69465-327C-5A77-5B6E-8F8036C500FF}"/>
              </a:ext>
            </a:extLst>
          </p:cNvPr>
          <p:cNvCxnSpPr>
            <a:cxnSpLocks/>
            <a:endCxn id="8" idx="7"/>
          </p:cNvCxnSpPr>
          <p:nvPr/>
        </p:nvCxnSpPr>
        <p:spPr>
          <a:xfrm flipV="1">
            <a:off x="6295302" y="3506034"/>
            <a:ext cx="349687" cy="28095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762AA80-32F0-139C-8B35-577443D55B11}"/>
              </a:ext>
            </a:extLst>
          </p:cNvPr>
          <p:cNvCxnSpPr/>
          <p:nvPr/>
        </p:nvCxnSpPr>
        <p:spPr>
          <a:xfrm>
            <a:off x="4322993" y="5309974"/>
            <a:ext cx="1964978" cy="10056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B03BE5D-1B27-6C45-656F-4D4467E22CB5}"/>
              </a:ext>
            </a:extLst>
          </p:cNvPr>
          <p:cNvCxnSpPr/>
          <p:nvPr/>
        </p:nvCxnSpPr>
        <p:spPr>
          <a:xfrm flipH="1">
            <a:off x="6178070" y="6315595"/>
            <a:ext cx="28956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AF069FAF-42B7-96E5-2D41-63CCA8EE1148}"/>
              </a:ext>
            </a:extLst>
          </p:cNvPr>
          <p:cNvSpPr txBox="1"/>
          <p:nvPr/>
        </p:nvSpPr>
        <p:spPr>
          <a:xfrm>
            <a:off x="5942603" y="6315594"/>
            <a:ext cx="1279532" cy="276999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         R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5C80F30-BD56-BFEF-C89D-853002F9EB13}"/>
              </a:ext>
            </a:extLst>
          </p:cNvPr>
          <p:cNvSpPr txBox="1"/>
          <p:nvPr/>
        </p:nvSpPr>
        <p:spPr>
          <a:xfrm>
            <a:off x="9523840" y="1809900"/>
            <a:ext cx="2656447" cy="522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lang="en-US" sz="1400" b="1" dirty="0">
                <a:solidFill>
                  <a:srgbClr val="38BDF8"/>
                </a:solidFill>
              </a:rPr>
              <a:t>L</a:t>
            </a:r>
            <a:r>
              <a:rPr sz="1400" b="1" dirty="0">
                <a:solidFill>
                  <a:srgbClr val="38BDF8"/>
                </a:solidFill>
              </a:rPr>
              <a:t>:</a:t>
            </a:r>
            <a:r>
              <a:rPr sz="1400" dirty="0">
                <a:solidFill>
                  <a:srgbClr val="F1F5F9"/>
                </a:solidFill>
              </a:rPr>
              <a:t> </a:t>
            </a:r>
            <a:r>
              <a:rPr lang="el-GR" sz="1400" dirty="0">
                <a:solidFill>
                  <a:srgbClr val="F1F5F9"/>
                </a:solidFill>
              </a:rPr>
              <a:t> </a:t>
            </a:r>
            <a:r>
              <a:rPr lang="en-US" sz="1400" dirty="0">
                <a:solidFill>
                  <a:srgbClr val="F1F5F9"/>
                </a:solidFill>
              </a:rPr>
              <a:t>contact point of left sensor on the ball</a:t>
            </a:r>
          </a:p>
          <a:p>
            <a:pPr>
              <a:spcAft>
                <a:spcPts val="1400"/>
              </a:spcAft>
            </a:pPr>
            <a:r>
              <a:rPr lang="en-US" sz="1400" b="1" dirty="0">
                <a:solidFill>
                  <a:srgbClr val="38BDF8"/>
                </a:solidFill>
              </a:rPr>
              <a:t>R:</a:t>
            </a:r>
            <a:r>
              <a:rPr lang="en-US" sz="1400" dirty="0">
                <a:solidFill>
                  <a:srgbClr val="F1F5F9"/>
                </a:solidFill>
              </a:rPr>
              <a:t>  contact point of right sensor on the ball </a:t>
            </a:r>
            <a:r>
              <a:rPr sz="1500" dirty="0">
                <a:solidFill>
                  <a:srgbClr val="F1F5F9"/>
                </a:solidFill>
                <a:latin typeface="Fira Code"/>
              </a:rPr>
              <a:t>
</a:t>
            </a:r>
            <a:r>
              <a:rPr lang="en-US" sz="1600" b="1" dirty="0">
                <a:solidFill>
                  <a:srgbClr val="38BDF8"/>
                </a:solidFill>
              </a:rPr>
              <a:t>O:</a:t>
            </a:r>
            <a:r>
              <a:rPr lang="en-US" sz="1600" dirty="0">
                <a:solidFill>
                  <a:srgbClr val="F1F5F9"/>
                </a:solidFill>
              </a:rPr>
              <a:t> center of the ball</a:t>
            </a:r>
          </a:p>
          <a:p>
            <a:pPr>
              <a:spcAft>
                <a:spcPts val="1400"/>
              </a:spcAft>
            </a:pPr>
            <a:r>
              <a:rPr lang="en-US" sz="1600" b="1" dirty="0">
                <a:solidFill>
                  <a:srgbClr val="38BDF8"/>
                </a:solidFill>
              </a:rPr>
              <a:t>R:</a:t>
            </a:r>
            <a:r>
              <a:rPr lang="en-US" sz="1600" dirty="0">
                <a:solidFill>
                  <a:srgbClr val="F1F5F9"/>
                </a:solidFill>
              </a:rPr>
              <a:t>  contact point of right sensor on the ball </a:t>
            </a:r>
          </a:p>
          <a:p>
            <a:pPr>
              <a:spcAft>
                <a:spcPts val="1400"/>
              </a:spcAft>
            </a:pPr>
            <a:r>
              <a:rPr lang="en-US" sz="1600" b="1" dirty="0">
                <a:solidFill>
                  <a:srgbClr val="38BDF8"/>
                </a:solidFill>
              </a:rPr>
              <a:t>I:</a:t>
            </a:r>
            <a:r>
              <a:rPr lang="en-US" sz="1600" dirty="0">
                <a:solidFill>
                  <a:srgbClr val="F1F5F9"/>
                </a:solidFill>
              </a:rPr>
              <a:t>  initial position of left sensor when right sensor touch the ball</a:t>
            </a:r>
          </a:p>
          <a:p>
            <a:pPr>
              <a:spcAft>
                <a:spcPts val="1400"/>
              </a:spcAft>
            </a:pPr>
            <a:r>
              <a:rPr lang="en-US" sz="1600" b="1" dirty="0">
                <a:solidFill>
                  <a:srgbClr val="38BDF8"/>
                </a:solidFill>
              </a:rPr>
              <a:t>r:</a:t>
            </a:r>
            <a:r>
              <a:rPr lang="en-US" sz="1600" dirty="0">
                <a:solidFill>
                  <a:srgbClr val="F1F5F9"/>
                </a:solidFill>
              </a:rPr>
              <a:t>  ball radius</a:t>
            </a:r>
            <a:r>
              <a:rPr lang="en-US" dirty="0">
                <a:solidFill>
                  <a:srgbClr val="F1F5F9"/>
                </a:solidFill>
                <a:latin typeface="Fira Code"/>
              </a:rPr>
              <a:t>
</a:t>
            </a:r>
            <a:r>
              <a:rPr lang="en-US" b="1" dirty="0">
                <a:solidFill>
                  <a:srgbClr val="38BDF8"/>
                </a:solidFill>
              </a:rPr>
              <a:t>O:</a:t>
            </a:r>
            <a:r>
              <a:rPr lang="en-US" dirty="0">
                <a:solidFill>
                  <a:srgbClr val="F1F5F9"/>
                </a:solidFill>
              </a:rPr>
              <a:t> center of the ball</a:t>
            </a:r>
          </a:p>
          <a:p>
            <a:pPr>
              <a:spcAft>
                <a:spcPts val="1400"/>
              </a:spcAft>
            </a:pPr>
            <a:r>
              <a:rPr lang="en-US" b="1" dirty="0">
                <a:solidFill>
                  <a:srgbClr val="38BDF8"/>
                </a:solidFill>
              </a:rPr>
              <a:t>R:</a:t>
            </a:r>
            <a:r>
              <a:rPr lang="en-US" dirty="0">
                <a:solidFill>
                  <a:srgbClr val="F1F5F9"/>
                </a:solidFill>
              </a:rPr>
              <a:t>  contact point of right sensor on the ball </a:t>
            </a:r>
            <a:endParaRPr lang="en-US" dirty="0">
              <a:solidFill>
                <a:srgbClr val="F1F5F9"/>
              </a:solidFill>
              <a:latin typeface="Fira Code"/>
            </a:endParaRPr>
          </a:p>
          <a:p>
            <a:pPr>
              <a:spcAft>
                <a:spcPts val="1400"/>
              </a:spcAft>
            </a:pPr>
            <a:endParaRPr sz="1500" dirty="0">
              <a:solidFill>
                <a:srgbClr val="F1F5F9"/>
              </a:solidFill>
              <a:latin typeface="Fira Code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DD04443-B58B-D463-13C4-F8DE8DF414AE}"/>
              </a:ext>
            </a:extLst>
          </p:cNvPr>
          <p:cNvSpPr txBox="1"/>
          <p:nvPr/>
        </p:nvSpPr>
        <p:spPr>
          <a:xfrm>
            <a:off x="6269584" y="3410292"/>
            <a:ext cx="1279532" cy="276999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         O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098846F-9CDE-9AA0-48D9-3C2C6CF91E8C}"/>
              </a:ext>
            </a:extLst>
          </p:cNvPr>
          <p:cNvSpPr txBox="1"/>
          <p:nvPr/>
        </p:nvSpPr>
        <p:spPr>
          <a:xfrm>
            <a:off x="3608726" y="6185674"/>
            <a:ext cx="1279532" cy="276999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         I</a:t>
            </a:r>
          </a:p>
        </p:txBody>
      </p:sp>
      <p:sp>
        <p:nvSpPr>
          <p:cNvPr id="63" name="Rectangle 1">
            <a:extLst>
              <a:ext uri="{FF2B5EF4-FFF2-40B4-BE49-F238E27FC236}">
                <a16:creationId xmlns:a16="http://schemas.microsoft.com/office/drawing/2014/main" id="{8232ABCB-36AF-2A44-E6EE-142F1F302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∠ABC=90∘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4" name="Rectangle 2">
            <a:extLst>
              <a:ext uri="{FF2B5EF4-FFF2-40B4-BE49-F238E27FC236}">
                <a16:creationId xmlns:a16="http://schemas.microsoft.com/office/drawing/2014/main" id="{3ADDD89B-E2B0-D35C-9E48-0643EDD0E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∠ABC=90∘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5" name="Rectangle 3">
            <a:extLst>
              <a:ext uri="{FF2B5EF4-FFF2-40B4-BE49-F238E27FC236}">
                <a16:creationId xmlns:a16="http://schemas.microsoft.com/office/drawing/2014/main" id="{A48CDD07-5FFA-13AD-0FFA-AD2299F19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∠ABC=90∘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921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997D44-7141-72C5-805D-20B4B8529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10E2B2-D7DF-B950-EEBB-2BB385740765}"/>
              </a:ext>
            </a:extLst>
          </p:cNvPr>
          <p:cNvSpPr txBox="1"/>
          <p:nvPr/>
        </p:nvSpPr>
        <p:spPr>
          <a:xfrm>
            <a:off x="731520" y="457200"/>
            <a:ext cx="105817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Consolas"/>
              </a:defRPr>
            </a:pPr>
            <a:r>
              <a:rPr dirty="0"/>
              <a:t>02 // </a:t>
            </a:r>
            <a:r>
              <a:rPr lang="en-US" dirty="0"/>
              <a:t>using Force sensor peak time difference 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DA4C337-E42F-04E7-E88B-2E8301D5F1A3}"/>
                  </a:ext>
                </a:extLst>
              </p:cNvPr>
              <p:cNvSpPr txBox="1"/>
              <p:nvPr/>
            </p:nvSpPr>
            <p:spPr>
              <a:xfrm>
                <a:off x="62294" y="1016499"/>
                <a:ext cx="4496166" cy="47205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solidFill>
                      <a:srgbClr val="F1F5F9"/>
                    </a:solidFill>
                  </a:rPr>
                  <a:t>When foot strike the ball in a perfect direction pass the ball center. There is angle between the sensor and the total force direction</a:t>
                </a:r>
              </a:p>
              <a:p>
                <a:pPr>
                  <a:spcAft>
                    <a:spcPts val="1400"/>
                  </a:spcAft>
                </a:pPr>
                <a14:m>
                  <m:oMath xmlns:m="http://schemas.openxmlformats.org/officeDocument/2006/math">
                    <m:r>
                      <a:rPr lang="en-US" sz="1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1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sz="1400" b="1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>
                    <a:solidFill>
                      <a:srgbClr val="F1F5F9"/>
                    </a:solidFill>
                  </a:rPr>
                  <a:t>=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1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US" sz="1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fName>
                      <m:e>
                        <m:r>
                          <a:rPr lang="en-US" sz="1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1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num>
                          <m:den>
                            <m:r>
                              <a:rPr lang="en-US" sz="1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sz="1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den>
                        </m:f>
                        <m:r>
                          <a:rPr lang="en-US" sz="1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1500" dirty="0">
                    <a:solidFill>
                      <a:srgbClr val="F1F5F9"/>
                    </a:solidFill>
                    <a:latin typeface="Fira Code"/>
                  </a:rPr>
                  <a:t>
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1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sz="1400" b="1" dirty="0">
                    <a:solidFill>
                      <a:schemeClr val="bg1"/>
                    </a:solidFill>
                  </a:rPr>
                  <a:t>        =   </a:t>
                </a:r>
                <a:r>
                  <a:rPr lang="en-US" sz="1600" b="1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600" b="1" dirty="0">
                    <a:solidFill>
                      <a:schemeClr val="bg1"/>
                    </a:solidFill>
                  </a:rPr>
                  <a:t>ORL +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1600" b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𝐈𝐑𝐋</m:t>
                    </m:r>
                  </m:oMath>
                </a14:m>
                <a:r>
                  <a:rPr lang="en-US" sz="1600" b="1" dirty="0">
                    <a:solidFill>
                      <a:schemeClr val="bg1"/>
                    </a:solidFill>
                  </a:rPr>
                  <a:t>  - 90 degree</a:t>
                </a:r>
              </a:p>
              <a:p>
                <a:pPr>
                  <a:spcAft>
                    <a:spcPts val="1400"/>
                  </a:spcAft>
                </a:pPr>
                <a:r>
                  <a:rPr lang="en-US" sz="1400" b="1" dirty="0">
                    <a:solidFill>
                      <a:schemeClr val="bg1"/>
                    </a:solidFill>
                  </a:rPr>
                  <a:t>So angle of attack need to add this offset to get </a:t>
                </a:r>
              </a:p>
              <a:p>
                <a:pPr>
                  <a:spcAft>
                    <a:spcPts val="1400"/>
                  </a:spcAft>
                </a:pPr>
                <a:r>
                  <a:rPr lang="en-US" sz="1400" b="1">
                    <a:solidFill>
                      <a:schemeClr val="bg1"/>
                    </a:solidFill>
                  </a:rPr>
                  <a:t>the final </a:t>
                </a:r>
                <a:r>
                  <a:rPr lang="en-US" sz="1400" b="1" dirty="0">
                    <a:solidFill>
                      <a:schemeClr val="bg1"/>
                    </a:solidFill>
                  </a:rPr>
                  <a:t>force attack angle</a:t>
                </a:r>
              </a:p>
              <a:p>
                <a:pPr>
                  <a:spcAft>
                    <a:spcPts val="1400"/>
                  </a:spcAft>
                </a:pPr>
                <a14:m>
                  <m:oMath xmlns:m="http://schemas.openxmlformats.org/officeDocument/2006/math">
                    <m:r>
                      <a:rPr lang="en-US" sz="12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12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sz="1200" b="1" dirty="0">
                    <a:solidFill>
                      <a:schemeClr val="bg1"/>
                    </a:solidFill>
                  </a:rPr>
                  <a:t>        =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1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m:rPr>
                                <m:sty m:val="p"/>
                              </m:rPr>
                              <a:rPr lang="en-US" sz="1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US" sz="1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fName>
                      <m:e>
                        <m:r>
                          <a:rPr lang="en-US" sz="1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1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sz="1400" i="1">
                                    <a:solidFill>
                                      <a:srgbClr val="F1F5F9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rgbClr val="F1F5F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𝑉𝑓</m:t>
                                    </m:r>
                                    <m: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×∆</m:t>
                                    </m:r>
                                    <m: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400" i="1">
                                    <a:solidFill>
                                      <a:srgbClr val="F1F5F9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num>
                          <m:den>
                            <m:r>
                              <a:rPr lang="en-US" sz="1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sz="1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den>
                        </m:f>
                        <m:r>
                          <a:rPr lang="en-US" sz="1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1400" b="1" dirty="0">
                    <a:solidFill>
                      <a:schemeClr val="bg1"/>
                    </a:solidFill>
                  </a:rPr>
                  <a:t>  +     </a:t>
                </a:r>
              </a:p>
              <a:p>
                <a:pPr>
                  <a:spcAft>
                    <a:spcPts val="1400"/>
                  </a:spcAft>
                </a:pPr>
                <a:r>
                  <a:rPr lang="en-US" sz="1400" b="1" dirty="0">
                    <a:solidFill>
                      <a:schemeClr val="bg1"/>
                    </a:solidFill>
                  </a:rPr>
                  <a:t>          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1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US" sz="1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fName>
                      <m:e>
                        <m:r>
                          <a:rPr lang="en-US" sz="1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1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1400" i="1" smtClean="0">
                                    <a:solidFill>
                                      <a:srgbClr val="F1F5F9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rgbClr val="F1F5F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𝑉𝑓</m:t>
                                    </m:r>
                                    <m: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×∆</m:t>
                                    </m:r>
                                    <m: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400" i="1">
                                    <a:solidFill>
                                      <a:srgbClr val="F1F5F9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US" sz="1400" i="1">
                                        <a:solidFill>
                                          <a:srgbClr val="F1F5F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a:rPr lang="en-US" sz="1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1400" b="1" dirty="0">
                    <a:solidFill>
                      <a:schemeClr val="bg1"/>
                    </a:solidFill>
                  </a:rPr>
                  <a:t> -                        </a:t>
                </a:r>
              </a:p>
              <a:p>
                <a:pPr>
                  <a:spcAft>
                    <a:spcPts val="1400"/>
                  </a:spcAft>
                </a:pPr>
                <a:r>
                  <a:rPr lang="en-US" sz="1400" b="1" dirty="0">
                    <a:solidFill>
                      <a:schemeClr val="bg1"/>
                    </a:solidFill>
                  </a:rPr>
                  <a:t>                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1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1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US" sz="1400" b="1" dirty="0">
                    <a:solidFill>
                      <a:schemeClr val="bg1"/>
                    </a:solidFill>
                  </a:rPr>
                  <a:t>  +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1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US" sz="1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fName>
                      <m:e>
                        <m:r>
                          <a:rPr lang="en-US" sz="1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1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num>
                          <m:den>
                            <m:r>
                              <a:rPr lang="en-US" sz="1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sz="1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den>
                        </m:f>
                        <m:r>
                          <a:rPr lang="en-US" sz="1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1400" b="1" dirty="0">
                  <a:solidFill>
                    <a:schemeClr val="bg1"/>
                  </a:solidFill>
                </a:endParaRPr>
              </a:p>
              <a:p>
                <a:pPr>
                  <a:spcAft>
                    <a:spcPts val="1400"/>
                  </a:spcAft>
                </a:pPr>
                <a:endParaRPr lang="en-US" sz="1400" dirty="0">
                  <a:solidFill>
                    <a:srgbClr val="F1F5F9"/>
                  </a:solidFill>
                </a:endParaRPr>
              </a:p>
              <a:p>
                <a:pPr>
                  <a:spcAft>
                    <a:spcPts val="1400"/>
                  </a:spcAft>
                </a:pPr>
                <a:r>
                  <a:rPr lang="en-US" sz="1400" dirty="0">
                    <a:solidFill>
                      <a:srgbClr val="F1F5F9"/>
                    </a:solidFill>
                  </a:rPr>
                  <a:t>                 </a:t>
                </a:r>
                <a:endParaRPr sz="1400" dirty="0">
                  <a:solidFill>
                    <a:srgbClr val="F1F5F9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DA4C337-E42F-04E7-E88B-2E8301D5F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4" y="1016499"/>
                <a:ext cx="4496166" cy="4720523"/>
              </a:xfrm>
              <a:prstGeom prst="rect">
                <a:avLst/>
              </a:prstGeom>
              <a:blipFill>
                <a:blip r:embed="rId2"/>
                <a:stretch>
                  <a:fillRect l="-562" t="-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CF15FBEA-80A3-C319-091A-AAC4129F5455}"/>
              </a:ext>
            </a:extLst>
          </p:cNvPr>
          <p:cNvSpPr/>
          <p:nvPr/>
        </p:nvSpPr>
        <p:spPr>
          <a:xfrm>
            <a:off x="3867685" y="917539"/>
            <a:ext cx="5734167" cy="5421502"/>
          </a:xfrm>
          <a:prstGeom prst="ellipse">
            <a:avLst/>
          </a:prstGeom>
          <a:solidFill>
            <a:srgbClr val="1E293B"/>
          </a:solidFill>
          <a:ln w="254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7AFFC68-3042-FA6E-0815-9B991A689CEB}"/>
              </a:ext>
            </a:extLst>
          </p:cNvPr>
          <p:cNvCxnSpPr>
            <a:cxnSpLocks/>
          </p:cNvCxnSpPr>
          <p:nvPr/>
        </p:nvCxnSpPr>
        <p:spPr>
          <a:xfrm flipV="1">
            <a:off x="5350993" y="1148862"/>
            <a:ext cx="2480463" cy="489603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926F75B-B331-1082-4F2E-FFCD5CFF950B}"/>
              </a:ext>
            </a:extLst>
          </p:cNvPr>
          <p:cNvSpPr/>
          <p:nvPr/>
        </p:nvSpPr>
        <p:spPr>
          <a:xfrm>
            <a:off x="6605965" y="3499338"/>
            <a:ext cx="45719" cy="457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4230922-8C93-1468-4EA1-41BBA1E62662}"/>
              </a:ext>
            </a:extLst>
          </p:cNvPr>
          <p:cNvCxnSpPr>
            <a:cxnSpLocks/>
          </p:cNvCxnSpPr>
          <p:nvPr/>
        </p:nvCxnSpPr>
        <p:spPr>
          <a:xfrm flipH="1" flipV="1">
            <a:off x="6603703" y="3230971"/>
            <a:ext cx="2262" cy="3121674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8C91C7D-BBBA-3BA8-810A-01AB84686283}"/>
              </a:ext>
            </a:extLst>
          </p:cNvPr>
          <p:cNvSpPr txBox="1"/>
          <p:nvPr/>
        </p:nvSpPr>
        <p:spPr>
          <a:xfrm>
            <a:off x="7125639" y="6533050"/>
            <a:ext cx="1519604" cy="276999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Cleat right sensor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6A40FF-6D10-D279-91A7-4F8DC190D2E7}"/>
              </a:ext>
            </a:extLst>
          </p:cNvPr>
          <p:cNvSpPr txBox="1"/>
          <p:nvPr/>
        </p:nvSpPr>
        <p:spPr>
          <a:xfrm>
            <a:off x="7086097" y="2467293"/>
            <a:ext cx="764954" cy="338554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 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9FFA0A9-DF02-3307-5955-35861DEA5A42}"/>
                  </a:ext>
                </a:extLst>
              </p:cNvPr>
              <p:cNvSpPr txBox="1"/>
              <p:nvPr/>
            </p:nvSpPr>
            <p:spPr>
              <a:xfrm>
                <a:off x="6299046" y="4092665"/>
                <a:ext cx="868826" cy="276999"/>
              </a:xfrm>
              <a:prstGeom prst="rect">
                <a:avLst/>
              </a:prstGeom>
              <a:solidFill>
                <a:schemeClr val="bg2">
                  <a:alpha val="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9FFA0A9-DF02-3307-5955-35861DEA5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046" y="4092665"/>
                <a:ext cx="868826" cy="276999"/>
              </a:xfrm>
              <a:prstGeom prst="rect">
                <a:avLst/>
              </a:prstGeom>
              <a:blipFill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E4A64426-BDBD-1218-186E-AD3022F0779A}"/>
              </a:ext>
            </a:extLst>
          </p:cNvPr>
          <p:cNvSpPr txBox="1"/>
          <p:nvPr/>
        </p:nvSpPr>
        <p:spPr>
          <a:xfrm>
            <a:off x="4765520" y="6527227"/>
            <a:ext cx="1349093" cy="276999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Cleat left sensor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0E893F9-6453-2D26-B021-CB6F33746037}"/>
              </a:ext>
            </a:extLst>
          </p:cNvPr>
          <p:cNvCxnSpPr>
            <a:cxnSpLocks/>
          </p:cNvCxnSpPr>
          <p:nvPr/>
        </p:nvCxnSpPr>
        <p:spPr>
          <a:xfrm>
            <a:off x="5741803" y="6362234"/>
            <a:ext cx="1817086" cy="18881"/>
          </a:xfrm>
          <a:prstGeom prst="line">
            <a:avLst/>
          </a:prstGeom>
          <a:ln>
            <a:headEnd type="oval" w="lg" len="lg"/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4DC37DF-27EA-D742-0825-019AE4526406}"/>
              </a:ext>
            </a:extLst>
          </p:cNvPr>
          <p:cNvSpPr txBox="1"/>
          <p:nvPr/>
        </p:nvSpPr>
        <p:spPr>
          <a:xfrm>
            <a:off x="5822567" y="6413912"/>
            <a:ext cx="1519604" cy="276999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d (sensor distance)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756B885-F2BF-4F50-4305-D286C1CDB25E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5753432" y="3522198"/>
            <a:ext cx="852533" cy="28187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CD7065B-73ED-4E04-904D-31287430FD2E}"/>
              </a:ext>
            </a:extLst>
          </p:cNvPr>
          <p:cNvCxnSpPr>
            <a:cxnSpLocks/>
          </p:cNvCxnSpPr>
          <p:nvPr/>
        </p:nvCxnSpPr>
        <p:spPr>
          <a:xfrm flipH="1" flipV="1">
            <a:off x="6628824" y="3545058"/>
            <a:ext cx="937114" cy="28456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4A07609-D7B6-9839-C673-D7A9C60D8C41}"/>
              </a:ext>
            </a:extLst>
          </p:cNvPr>
          <p:cNvCxnSpPr>
            <a:cxnSpLocks/>
          </p:cNvCxnSpPr>
          <p:nvPr/>
        </p:nvCxnSpPr>
        <p:spPr>
          <a:xfrm>
            <a:off x="5753432" y="6381115"/>
            <a:ext cx="18054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625E69F-EFBE-5671-B9E5-67767021FF8B}"/>
              </a:ext>
            </a:extLst>
          </p:cNvPr>
          <p:cNvSpPr txBox="1"/>
          <p:nvPr/>
        </p:nvSpPr>
        <p:spPr>
          <a:xfrm>
            <a:off x="9523840" y="1809900"/>
            <a:ext cx="2656447" cy="522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lang="en-US" sz="1400" b="1" dirty="0">
                <a:solidFill>
                  <a:srgbClr val="38BDF8"/>
                </a:solidFill>
              </a:rPr>
              <a:t>L</a:t>
            </a:r>
            <a:r>
              <a:rPr sz="1400" b="1" dirty="0">
                <a:solidFill>
                  <a:srgbClr val="38BDF8"/>
                </a:solidFill>
              </a:rPr>
              <a:t>:</a:t>
            </a:r>
            <a:r>
              <a:rPr sz="1400" dirty="0">
                <a:solidFill>
                  <a:srgbClr val="F1F5F9"/>
                </a:solidFill>
              </a:rPr>
              <a:t> </a:t>
            </a:r>
            <a:r>
              <a:rPr lang="el-GR" sz="1400" dirty="0">
                <a:solidFill>
                  <a:srgbClr val="F1F5F9"/>
                </a:solidFill>
              </a:rPr>
              <a:t> </a:t>
            </a:r>
            <a:r>
              <a:rPr lang="en-US" sz="1400" dirty="0">
                <a:solidFill>
                  <a:srgbClr val="F1F5F9"/>
                </a:solidFill>
              </a:rPr>
              <a:t>contact point of left sensor on the ball</a:t>
            </a:r>
          </a:p>
          <a:p>
            <a:pPr>
              <a:spcAft>
                <a:spcPts val="1400"/>
              </a:spcAft>
            </a:pPr>
            <a:r>
              <a:rPr lang="en-US" sz="1400" b="1" dirty="0">
                <a:solidFill>
                  <a:srgbClr val="38BDF8"/>
                </a:solidFill>
              </a:rPr>
              <a:t>R:</a:t>
            </a:r>
            <a:r>
              <a:rPr lang="en-US" sz="1400" dirty="0">
                <a:solidFill>
                  <a:srgbClr val="F1F5F9"/>
                </a:solidFill>
              </a:rPr>
              <a:t>  contact point of right sensor on the ball </a:t>
            </a:r>
            <a:r>
              <a:rPr sz="1500" dirty="0">
                <a:solidFill>
                  <a:srgbClr val="F1F5F9"/>
                </a:solidFill>
                <a:latin typeface="Fira Code"/>
              </a:rPr>
              <a:t>
</a:t>
            </a:r>
            <a:r>
              <a:rPr lang="en-US" sz="1600" b="1" dirty="0">
                <a:solidFill>
                  <a:srgbClr val="38BDF8"/>
                </a:solidFill>
              </a:rPr>
              <a:t>O:</a:t>
            </a:r>
            <a:r>
              <a:rPr lang="en-US" sz="1600" dirty="0">
                <a:solidFill>
                  <a:srgbClr val="F1F5F9"/>
                </a:solidFill>
              </a:rPr>
              <a:t> center of the ball</a:t>
            </a:r>
          </a:p>
          <a:p>
            <a:pPr>
              <a:spcAft>
                <a:spcPts val="1400"/>
              </a:spcAft>
            </a:pPr>
            <a:r>
              <a:rPr lang="en-US" sz="1600" b="1" dirty="0">
                <a:solidFill>
                  <a:srgbClr val="38BDF8"/>
                </a:solidFill>
              </a:rPr>
              <a:t>R:</a:t>
            </a:r>
            <a:r>
              <a:rPr lang="en-US" sz="1600" dirty="0">
                <a:solidFill>
                  <a:srgbClr val="F1F5F9"/>
                </a:solidFill>
              </a:rPr>
              <a:t>  contact point of right sensor on the ball </a:t>
            </a:r>
          </a:p>
          <a:p>
            <a:pPr>
              <a:spcAft>
                <a:spcPts val="1400"/>
              </a:spcAft>
            </a:pPr>
            <a:r>
              <a:rPr lang="en-US" sz="1600" b="1" dirty="0">
                <a:solidFill>
                  <a:srgbClr val="38BDF8"/>
                </a:solidFill>
              </a:rPr>
              <a:t>I:</a:t>
            </a:r>
            <a:r>
              <a:rPr lang="en-US" sz="1600" dirty="0">
                <a:solidFill>
                  <a:srgbClr val="F1F5F9"/>
                </a:solidFill>
              </a:rPr>
              <a:t>  initial position of left sensor when right sensor touch the ball</a:t>
            </a:r>
          </a:p>
          <a:p>
            <a:pPr>
              <a:spcAft>
                <a:spcPts val="1400"/>
              </a:spcAft>
            </a:pPr>
            <a:r>
              <a:rPr lang="en-US" sz="1600" b="1" dirty="0">
                <a:solidFill>
                  <a:srgbClr val="38BDF8"/>
                </a:solidFill>
              </a:rPr>
              <a:t>r:</a:t>
            </a:r>
            <a:r>
              <a:rPr lang="en-US" sz="1600" dirty="0">
                <a:solidFill>
                  <a:srgbClr val="F1F5F9"/>
                </a:solidFill>
              </a:rPr>
              <a:t>  ball radius</a:t>
            </a:r>
            <a:r>
              <a:rPr lang="en-US" dirty="0">
                <a:solidFill>
                  <a:srgbClr val="F1F5F9"/>
                </a:solidFill>
                <a:latin typeface="Fira Code"/>
              </a:rPr>
              <a:t>
</a:t>
            </a:r>
            <a:r>
              <a:rPr lang="en-US" b="1" dirty="0">
                <a:solidFill>
                  <a:srgbClr val="38BDF8"/>
                </a:solidFill>
              </a:rPr>
              <a:t>O:</a:t>
            </a:r>
            <a:r>
              <a:rPr lang="en-US" dirty="0">
                <a:solidFill>
                  <a:srgbClr val="F1F5F9"/>
                </a:solidFill>
              </a:rPr>
              <a:t> center of the ball</a:t>
            </a:r>
          </a:p>
          <a:p>
            <a:pPr>
              <a:spcAft>
                <a:spcPts val="1400"/>
              </a:spcAft>
            </a:pPr>
            <a:r>
              <a:rPr lang="en-US" b="1" dirty="0">
                <a:solidFill>
                  <a:srgbClr val="38BDF8"/>
                </a:solidFill>
              </a:rPr>
              <a:t>R:</a:t>
            </a:r>
            <a:r>
              <a:rPr lang="en-US" dirty="0">
                <a:solidFill>
                  <a:srgbClr val="F1F5F9"/>
                </a:solidFill>
              </a:rPr>
              <a:t>  contact point of right sensor on the ball </a:t>
            </a:r>
            <a:endParaRPr lang="en-US" dirty="0">
              <a:solidFill>
                <a:srgbClr val="F1F5F9"/>
              </a:solidFill>
              <a:latin typeface="Fira Code"/>
            </a:endParaRPr>
          </a:p>
          <a:p>
            <a:pPr>
              <a:spcAft>
                <a:spcPts val="1400"/>
              </a:spcAft>
            </a:pPr>
            <a:endParaRPr sz="1500" dirty="0">
              <a:solidFill>
                <a:srgbClr val="F1F5F9"/>
              </a:solidFill>
              <a:latin typeface="Fira Code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C91ED6D-FD4C-D67F-3D42-68C8A445D5A9}"/>
              </a:ext>
            </a:extLst>
          </p:cNvPr>
          <p:cNvSpPr txBox="1"/>
          <p:nvPr/>
        </p:nvSpPr>
        <p:spPr>
          <a:xfrm>
            <a:off x="6269584" y="3410292"/>
            <a:ext cx="1279532" cy="276999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         O</a:t>
            </a:r>
          </a:p>
        </p:txBody>
      </p:sp>
      <p:sp>
        <p:nvSpPr>
          <p:cNvPr id="63" name="Rectangle 1">
            <a:extLst>
              <a:ext uri="{FF2B5EF4-FFF2-40B4-BE49-F238E27FC236}">
                <a16:creationId xmlns:a16="http://schemas.microsoft.com/office/drawing/2014/main" id="{3CCB5523-67DE-06F1-E4D6-D735BB44F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∠ABC=90∘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4" name="Rectangle 2">
            <a:extLst>
              <a:ext uri="{FF2B5EF4-FFF2-40B4-BE49-F238E27FC236}">
                <a16:creationId xmlns:a16="http://schemas.microsoft.com/office/drawing/2014/main" id="{2606DDA1-BE85-3ADA-0209-04B0539A1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∠ABC=90∘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5" name="Rectangle 3">
            <a:extLst>
              <a:ext uri="{FF2B5EF4-FFF2-40B4-BE49-F238E27FC236}">
                <a16:creationId xmlns:a16="http://schemas.microsoft.com/office/drawing/2014/main" id="{E5386E8A-3011-E656-B485-8CD266E7A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∠ABC=90∘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030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7044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17151</TotalTime>
  <Words>961</Words>
  <Application>Microsoft Macintosh PowerPoint</Application>
  <PresentationFormat>Custom</PresentationFormat>
  <Paragraphs>117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Fira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William Zhang</cp:lastModifiedBy>
  <cp:revision>7</cp:revision>
  <dcterms:created xsi:type="dcterms:W3CDTF">2013-01-27T09:14:16Z</dcterms:created>
  <dcterms:modified xsi:type="dcterms:W3CDTF">2026-06-20T17:44:47Z</dcterms:modified>
  <cp:category/>
</cp:coreProperties>
</file>